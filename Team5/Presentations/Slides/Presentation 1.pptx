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5"/>
    <p:sldMasterId id="214748369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y="5143500" cx="9144000"/>
  <p:notesSz cx="6858000" cy="9144000"/>
  <p:embeddedFontLst>
    <p:embeddedFont>
      <p:font typeface="Playfair Display Medium"/>
      <p:regular r:id="rId27"/>
      <p:bold r:id="rId28"/>
      <p:italic r:id="rId29"/>
      <p:boldItalic r:id="rId30"/>
    </p:embeddedFont>
    <p:embeddedFont>
      <p:font typeface="Playfair Display"/>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768D74-2804-4642-8646-F58C71E427C0}">
  <a:tblStyle styleId="{59768D74-2804-4642-8646-F58C71E427C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PlayfairDisplayMedium-bold.fntdata"/><Relationship Id="rId27" Type="http://schemas.openxmlformats.org/officeDocument/2006/relationships/font" Target="fonts/PlayfairDisplayMedium-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layfairDisplayMedium-italic.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layfairDisplay-regular.fntdata"/><Relationship Id="rId30" Type="http://schemas.openxmlformats.org/officeDocument/2006/relationships/font" Target="fonts/PlayfairDisplayMedium-boldItalic.fntdata"/><Relationship Id="rId11" Type="http://schemas.openxmlformats.org/officeDocument/2006/relationships/slide" Target="slides/slide4.xml"/><Relationship Id="rId33" Type="http://schemas.openxmlformats.org/officeDocument/2006/relationships/font" Target="fonts/PlayfairDisplay-italic.fntdata"/><Relationship Id="rId10" Type="http://schemas.openxmlformats.org/officeDocument/2006/relationships/slide" Target="slides/slide3.xml"/><Relationship Id="rId32" Type="http://schemas.openxmlformats.org/officeDocument/2006/relationships/font" Target="fonts/PlayfairDisplay-bold.fntdata"/><Relationship Id="rId13" Type="http://schemas.openxmlformats.org/officeDocument/2006/relationships/slide" Target="slides/slide6.xml"/><Relationship Id="rId35" Type="http://schemas.openxmlformats.org/officeDocument/2006/relationships/font" Target="fonts/Lato-regular.fntdata"/><Relationship Id="rId12" Type="http://schemas.openxmlformats.org/officeDocument/2006/relationships/slide" Target="slides/slide5.xml"/><Relationship Id="rId34" Type="http://schemas.openxmlformats.org/officeDocument/2006/relationships/font" Target="fonts/PlayfairDisplay-boldItalic.fntdata"/><Relationship Id="rId15" Type="http://schemas.openxmlformats.org/officeDocument/2006/relationships/slide" Target="slides/slide8.xml"/><Relationship Id="rId37" Type="http://schemas.openxmlformats.org/officeDocument/2006/relationships/font" Target="fonts/Lato-italic.fntdata"/><Relationship Id="rId14" Type="http://schemas.openxmlformats.org/officeDocument/2006/relationships/slide" Target="slides/slide7.xml"/><Relationship Id="rId36" Type="http://schemas.openxmlformats.org/officeDocument/2006/relationships/font" Target="fonts/Lato-bold.fntdata"/><Relationship Id="rId17" Type="http://schemas.openxmlformats.org/officeDocument/2006/relationships/slide" Target="slides/slide10.xml"/><Relationship Id="rId16" Type="http://schemas.openxmlformats.org/officeDocument/2006/relationships/slide" Target="slides/slide9.xml"/><Relationship Id="rId38" Type="http://schemas.openxmlformats.org/officeDocument/2006/relationships/font" Target="fonts/Lato-bold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bbf09c0bb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3bbf09c0bb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bf09c0bb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bbf09c0bb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bf09c0bb1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bf09c0bb1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None/>
            </a:pPr>
            <a:r>
              <a:rPr lang="en" sz="1000">
                <a:solidFill>
                  <a:srgbClr val="1C2026"/>
                </a:solidFill>
                <a:latin typeface="Lato"/>
                <a:ea typeface="Lato"/>
                <a:cs typeface="Lato"/>
                <a:sym typeface="Lato"/>
              </a:rPr>
              <a:t>Emma</a:t>
            </a:r>
            <a:endParaRPr sz="1000">
              <a:solidFill>
                <a:srgbClr val="1C2026"/>
              </a:solidFill>
              <a:latin typeface="Lato"/>
              <a:ea typeface="Lato"/>
              <a:cs typeface="Lato"/>
              <a:sym typeface="Lato"/>
            </a:endParaRPr>
          </a:p>
          <a:p>
            <a:pPr indent="0" lvl="0" marL="0" rtl="0" algn="l">
              <a:lnSpc>
                <a:spcPct val="115000"/>
              </a:lnSpc>
              <a:spcBef>
                <a:spcPts val="0"/>
              </a:spcBef>
              <a:spcAft>
                <a:spcPts val="0"/>
              </a:spcAft>
              <a:buClr>
                <a:schemeClr val="dk1"/>
              </a:buClr>
              <a:buSzPts val="1100"/>
              <a:buNone/>
            </a:pPr>
            <a:r>
              <a:rPr lang="en" sz="1000">
                <a:solidFill>
                  <a:srgbClr val="1C2026"/>
                </a:solidFill>
                <a:latin typeface="Lato"/>
                <a:ea typeface="Lato"/>
                <a:cs typeface="Lato"/>
                <a:sym typeface="Lato"/>
              </a:rPr>
              <a:t>As per the WHO 2022 classification of  C-MIL:</a:t>
            </a:r>
            <a:endParaRPr sz="1000">
              <a:solidFill>
                <a:srgbClr val="1C2026"/>
              </a:solidFill>
              <a:latin typeface="Lato"/>
              <a:ea typeface="Lato"/>
              <a:cs typeface="Lato"/>
              <a:sym typeface="Lato"/>
            </a:endParaRPr>
          </a:p>
          <a:p>
            <a:pPr indent="-177800" lvl="0" marL="342900" rtl="0" algn="l">
              <a:lnSpc>
                <a:spcPct val="115000"/>
              </a:lnSpc>
              <a:spcBef>
                <a:spcPts val="0"/>
              </a:spcBef>
              <a:spcAft>
                <a:spcPts val="0"/>
              </a:spcAft>
              <a:buClr>
                <a:srgbClr val="1C2026"/>
              </a:buClr>
              <a:buSzPts val="1000"/>
              <a:buFont typeface="Lato"/>
              <a:buChar char="-"/>
            </a:pPr>
            <a:r>
              <a:rPr lang="en" sz="1000">
                <a:solidFill>
                  <a:srgbClr val="1C2026"/>
                </a:solidFill>
                <a:latin typeface="Lato"/>
                <a:ea typeface="Lato"/>
                <a:cs typeface="Lato"/>
                <a:sym typeface="Lato"/>
              </a:rPr>
              <a:t> Benign melanosis</a:t>
            </a:r>
            <a:endParaRPr sz="1000">
              <a:solidFill>
                <a:srgbClr val="1C2026"/>
              </a:solidFill>
              <a:latin typeface="Lato"/>
              <a:ea typeface="Lato"/>
              <a:cs typeface="Lato"/>
              <a:sym typeface="Lato"/>
            </a:endParaRPr>
          </a:p>
          <a:p>
            <a:pPr indent="-177800" lvl="0" marL="342900" rtl="0" algn="l">
              <a:lnSpc>
                <a:spcPct val="115000"/>
              </a:lnSpc>
              <a:spcBef>
                <a:spcPts val="0"/>
              </a:spcBef>
              <a:spcAft>
                <a:spcPts val="0"/>
              </a:spcAft>
              <a:buClr>
                <a:srgbClr val="1C2026"/>
              </a:buClr>
              <a:buSzPts val="1000"/>
              <a:buFont typeface="Lato"/>
              <a:buChar char="-"/>
            </a:pPr>
            <a:r>
              <a:rPr lang="en" sz="1000">
                <a:solidFill>
                  <a:srgbClr val="1C2026"/>
                </a:solidFill>
                <a:latin typeface="Lato"/>
                <a:ea typeface="Lato"/>
                <a:cs typeface="Lato"/>
                <a:sym typeface="Lato"/>
              </a:rPr>
              <a:t> Low-grade C-MIL</a:t>
            </a:r>
            <a:endParaRPr sz="1000">
              <a:solidFill>
                <a:srgbClr val="1C2026"/>
              </a:solidFill>
              <a:latin typeface="Lato"/>
              <a:ea typeface="Lato"/>
              <a:cs typeface="Lato"/>
              <a:sym typeface="Lato"/>
            </a:endParaRPr>
          </a:p>
          <a:p>
            <a:pPr indent="0" lvl="0" marL="0" rtl="0" algn="l">
              <a:spcBef>
                <a:spcPts val="0"/>
              </a:spcBef>
              <a:spcAft>
                <a:spcPts val="0"/>
              </a:spcAft>
              <a:buClr>
                <a:schemeClr val="dk1"/>
              </a:buClr>
              <a:buSzPts val="1100"/>
              <a:buNone/>
            </a:pPr>
            <a:r>
              <a:rPr lang="en" sz="1000">
                <a:solidFill>
                  <a:srgbClr val="1C2026"/>
                </a:solidFill>
                <a:latin typeface="Lato"/>
                <a:ea typeface="Lato"/>
                <a:cs typeface="Lato"/>
                <a:sym typeface="Lato"/>
              </a:rPr>
              <a:t>High-grade C-MIL</a:t>
            </a:r>
            <a:endParaRPr sz="1000">
              <a:solidFill>
                <a:srgbClr val="1C2026"/>
              </a:solidFill>
              <a:latin typeface="Lato"/>
              <a:ea typeface="Lato"/>
              <a:cs typeface="Lato"/>
              <a:sym typeface="Lato"/>
            </a:endParaRPr>
          </a:p>
          <a:p>
            <a:pPr indent="0" lvl="0" marL="0" rtl="0" algn="l">
              <a:spcBef>
                <a:spcPts val="0"/>
              </a:spcBef>
              <a:spcAft>
                <a:spcPts val="0"/>
              </a:spcAft>
              <a:buClr>
                <a:schemeClr val="dk1"/>
              </a:buClr>
              <a:buSzPts val="1100"/>
              <a:buNone/>
            </a:pPr>
            <a:r>
              <a:rPr lang="en"/>
              <a:t>How does dependency on experts effect the model accuracy?</a:t>
            </a:r>
            <a:endParaRPr/>
          </a:p>
          <a:p>
            <a:pPr indent="0" lvl="0" marL="0" rtl="0" algn="l">
              <a:spcBef>
                <a:spcPts val="0"/>
              </a:spcBef>
              <a:spcAft>
                <a:spcPts val="0"/>
              </a:spcAft>
              <a:buClr>
                <a:schemeClr val="dk1"/>
              </a:buClr>
              <a:buSzPts val="1100"/>
              <a:buNone/>
            </a:pPr>
            <a:r>
              <a:rPr lang="en"/>
              <a:t>• There is human error in labelling</a:t>
            </a:r>
            <a:endParaRPr/>
          </a:p>
          <a:p>
            <a:pPr indent="0" lvl="0" marL="0" rtl="0" algn="l">
              <a:spcBef>
                <a:spcPts val="0"/>
              </a:spcBef>
              <a:spcAft>
                <a:spcPts val="0"/>
              </a:spcAft>
              <a:buClr>
                <a:schemeClr val="dk1"/>
              </a:buClr>
              <a:buSzPts val="1100"/>
              <a:buNone/>
            </a:pPr>
            <a:r>
              <a:rPr lang="en"/>
              <a:t>• Experts may not label all the cases the same way if they label again!</a:t>
            </a:r>
            <a:endParaRPr/>
          </a:p>
          <a:p>
            <a:pPr indent="0" lvl="0" marL="0" rtl="0" algn="l">
              <a:spcBef>
                <a:spcPts val="0"/>
              </a:spcBef>
              <a:spcAft>
                <a:spcPts val="0"/>
              </a:spcAft>
              <a:buClr>
                <a:schemeClr val="dk1"/>
              </a:buClr>
              <a:buSzPts val="1100"/>
              <a:buNone/>
            </a:pPr>
            <a:r>
              <a:rPr lang="en"/>
              <a:t>• Ground truth is typically not 100% accurate as it contains human errors</a:t>
            </a:r>
            <a:endParaRPr/>
          </a:p>
          <a:p>
            <a:pPr indent="0" lvl="0" marL="0" rtl="0" algn="l">
              <a:spcBef>
                <a:spcPts val="0"/>
              </a:spcBef>
              <a:spcAft>
                <a:spcPts val="0"/>
              </a:spcAft>
              <a:buClr>
                <a:schemeClr val="dk1"/>
              </a:buClr>
              <a:buSzPts val="1100"/>
              <a:buNone/>
            </a:pPr>
            <a:r>
              <a:rPr lang="en"/>
              <a:t>• However, a ML can be robust to human errors as long as the human errors are small (~10%</a:t>
            </a:r>
            <a:endParaRPr/>
          </a:p>
          <a:p>
            <a:pPr indent="0" lvl="0" marL="0" rtl="0" algn="l">
              <a:spcBef>
                <a:spcPts val="0"/>
              </a:spcBef>
              <a:spcAft>
                <a:spcPts val="0"/>
              </a:spcAft>
              <a:buClr>
                <a:schemeClr val="dk1"/>
              </a:buClr>
              <a:buSzPts val="1100"/>
              <a:buNone/>
            </a:pPr>
            <a:r>
              <a:rPr lang="en"/>
              <a:t>mislabelled data, recall the bias-variance tradeoff)</a:t>
            </a:r>
            <a:endParaRPr/>
          </a:p>
          <a:p>
            <a:pPr indent="0" lvl="0" marL="0" rtl="0" algn="l">
              <a:spcBef>
                <a:spcPts val="0"/>
              </a:spcBef>
              <a:spcAft>
                <a:spcPts val="0"/>
              </a:spcAft>
              <a:buClr>
                <a:schemeClr val="dk1"/>
              </a:buClr>
              <a:buSzPts val="1100"/>
              <a:buNone/>
            </a:pPr>
            <a:r>
              <a:rPr lang="en"/>
              <a:t>• Thus, the ML model is likely to be more accurate than humans as long as it captures all the</a:t>
            </a:r>
            <a:endParaRPr/>
          </a:p>
          <a:p>
            <a:pPr indent="0" lvl="0" marL="0" rtl="0" algn="l">
              <a:spcBef>
                <a:spcPts val="0"/>
              </a:spcBef>
              <a:spcAft>
                <a:spcPts val="0"/>
              </a:spcAft>
              <a:buClr>
                <a:schemeClr val="dk1"/>
              </a:buClr>
              <a:buSzPts val="1100"/>
              <a:buNone/>
            </a:pPr>
            <a:r>
              <a:rPr lang="en"/>
              <a:t>patterns that humans capture</a:t>
            </a:r>
            <a:endParaRPr/>
          </a:p>
          <a:p>
            <a:pPr indent="0" lvl="0" marL="0" rtl="0" algn="l">
              <a:spcBef>
                <a:spcPts val="0"/>
              </a:spcBef>
              <a:spcAft>
                <a:spcPts val="0"/>
              </a:spcAft>
              <a:buClr>
                <a:schemeClr val="dk1"/>
              </a:buClr>
              <a:buSzPts val="1100"/>
              <a:buNone/>
            </a:pPr>
            <a:r>
              <a:t/>
            </a:r>
            <a:endParaRPr/>
          </a:p>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bbf09c0bb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bbf09c0bb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a:t>
            </a:r>
            <a:r>
              <a:rPr lang="en"/>
              <a:t>understand</a:t>
            </a:r>
            <a:r>
              <a:rPr lang="en"/>
              <a:t> the work done last quarter, I spent some time with the </a:t>
            </a:r>
            <a:r>
              <a:rPr lang="en"/>
              <a:t>motivating</a:t>
            </a:r>
            <a:r>
              <a:rPr lang="en"/>
              <a:t> paper and the work done by the Fall 2025 Cohort.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t>
            </a:r>
            <a:r>
              <a:rPr lang="en"/>
              <a:t>motivating</a:t>
            </a:r>
            <a:r>
              <a:rPr lang="en"/>
              <a:t> paper follows a research study done to see how using image analysis machine learning can help to predict biomarkers for breast cancer patients and identify treatment paths. While this is a different type of cancer, the model uses images of the stained slides of tumors, the same way ours will. By identifying the proper biomarkers with this model, medical professionals are able to better select treatment for these patients.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reason this matters is that the process for this kind of decision making is typically human-led which opens up the possibility for human error. Creating an accurate model will improve the patient experience and provide an efficient evaluation.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code written by the Fall25 cohort uses 3 different attention modules with uniform architecture, and a base model of DenseNet121.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bf09c0bb1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bbf09c0bb1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Aidan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bc3a3c060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3bc3a3c060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Aidan - PyTorch dataloader helps with batch loading and data shuffling for CNN (improve performance between epochs)</a:t>
            </a:r>
            <a:endParaRPr/>
          </a:p>
          <a:p>
            <a:pPr indent="0" lvl="0" marL="0" rtl="0" algn="l">
              <a:spcBef>
                <a:spcPts val="0"/>
              </a:spcBef>
              <a:spcAft>
                <a:spcPts val="0"/>
              </a:spcAft>
              <a:buNone/>
            </a:pPr>
            <a:r>
              <a:rPr lang="en"/>
              <a:t>Data utils summary stats: for each case, get # of slices and patches per stain, how many are missing</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bc3a3c060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bc3a3c060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Aidan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c24234792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c24234792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bbf09c0bb1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bbf09c0bb1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bc9c6feefa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bc9c6feefa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bc3a3c0606_5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bc3a3c0606_5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bc3a3c0606_5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bc3a3c0606_5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bc9c6feefa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bc9c6feefa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bc9c6feefa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bc9c6feefa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bc9c6feefa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bc9c6feefa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bc3a3c0606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bc3a3c0606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Paris (Limitations)</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Read attention pooling thing</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For instance, if we use a Multi-head approach instead, we could be able to learn different aspects of the slices, like the stroma and inflammatory cells, and be able to combine multiple patterns rather than a single one. This would create a deeper learning that may be better than what the model currently uses. </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The group suggested that using Optuna may be beneficial, and after some research it seems like it could help with using CV in each trial, and create a far more efficient approach.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bc3a3c0606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bc3a3c0606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This confusion matrix shows how the model performs at the case level. The key takeaway is that the model correctly identifies nearly all high-grade cases — it gets 11 out of 12 right — which is evidently important given the context of our topic of research, where missing a high-grade lesion can be detrimental to the </a:t>
            </a:r>
            <a:r>
              <a:rPr lang="en"/>
              <a:t>research</a:t>
            </a:r>
            <a:r>
              <a:rPr lang="en"/>
              <a:t> and potential patients. </a:t>
            </a:r>
            <a:endParaRPr/>
          </a:p>
          <a:p>
            <a:pPr indent="0" lvl="0" marL="381000" marR="381000" rtl="0" algn="l">
              <a:lnSpc>
                <a:spcPct val="115000"/>
              </a:lnSpc>
              <a:spcBef>
                <a:spcPts val="1200"/>
              </a:spcBef>
              <a:spcAft>
                <a:spcPts val="0"/>
              </a:spcAft>
              <a:buClr>
                <a:schemeClr val="dk1"/>
              </a:buClr>
              <a:buSzPts val="1100"/>
              <a:buFont typeface="Arial"/>
              <a:buNone/>
            </a:pPr>
            <a:r>
              <a:rPr lang="en"/>
              <a:t>We also do see a few benign cases being flagged as high-grade. However, in practice this would mean additional review rather than incorrect treatment. From a safety perspective, this is a more acceptable error than missing aggressive disease.</a:t>
            </a:r>
            <a:endParaRPr/>
          </a:p>
          <a:p>
            <a:pPr indent="0" lvl="0" marL="381000" marR="381000" rtl="0" algn="l">
              <a:lnSpc>
                <a:spcPct val="115000"/>
              </a:lnSpc>
              <a:spcBef>
                <a:spcPts val="1200"/>
              </a:spcBef>
              <a:spcAft>
                <a:spcPts val="1200"/>
              </a:spcAft>
              <a:buNone/>
            </a:pPr>
            <a:r>
              <a:rPr lang="en"/>
              <a:t>Overall, the model is intentionally conservative. It’s designed to support pathologists by highlighting potentially high-risk cases, rather than making final diagnostic decisions.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bc9c6feef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bc9c6feef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
              <a:t>T</a:t>
            </a:r>
            <a:r>
              <a:rPr lang="en"/>
              <a:t>hese two plots help us understand not just whether the model is correct, but how confident it is in its predictions. On the left, we see the predicted score for each case. Most high-grade cases are predicted with high confidence, while benign cases tend to fall on the lower end.</a:t>
            </a:r>
            <a:endParaRPr/>
          </a:p>
          <a:p>
            <a:pPr indent="0" lvl="0" marL="381000" marR="381000" rtl="0" algn="l">
              <a:lnSpc>
                <a:spcPct val="115000"/>
              </a:lnSpc>
              <a:spcBef>
                <a:spcPts val="1200"/>
              </a:spcBef>
              <a:spcAft>
                <a:spcPts val="0"/>
              </a:spcAft>
              <a:buClr>
                <a:schemeClr val="dk1"/>
              </a:buClr>
              <a:buSzPts val="1100"/>
              <a:buFont typeface="Arial"/>
              <a:buNone/>
            </a:pPr>
            <a:r>
              <a:rPr lang="en"/>
              <a:t>The few mistakes the model makes tend to occur close to the cutoff, where cases are ambiguous. This mirrors real clinical uncertainty rather than random error.</a:t>
            </a:r>
            <a:endParaRPr/>
          </a:p>
          <a:p>
            <a:pPr indent="0" lvl="0" marL="381000" marR="381000" rtl="0" algn="l">
              <a:lnSpc>
                <a:spcPct val="115000"/>
              </a:lnSpc>
              <a:spcBef>
                <a:spcPts val="1200"/>
              </a:spcBef>
              <a:spcAft>
                <a:spcPts val="0"/>
              </a:spcAft>
              <a:buClr>
                <a:schemeClr val="dk1"/>
              </a:buClr>
              <a:buSzPts val="1100"/>
              <a:buFont typeface="Arial"/>
              <a:buNone/>
            </a:pPr>
            <a:r>
              <a:rPr lang="en"/>
              <a:t>On the right, the curve shows that across many possible cutoffs, the model consistently separates high-grade cases from benign ones. This tells us the model has real signal and that its performance isn’t dependent on one arbitrary threshold.</a:t>
            </a:r>
            <a:endParaRPr/>
          </a:p>
          <a:p>
            <a:pPr indent="0" lvl="0" marL="381000" marR="381000" rtl="0" algn="l">
              <a:lnSpc>
                <a:spcPct val="115000"/>
              </a:lnSpc>
              <a:spcBef>
                <a:spcPts val="1200"/>
              </a:spcBef>
              <a:spcAft>
                <a:spcPts val="1200"/>
              </a:spcAft>
              <a:buNone/>
            </a:pPr>
            <a:r>
              <a:rPr lang="en"/>
              <a:t>Since we better understand how these models are performing from these visualization, we can also use them to inform where we should improve. For example, since we know from the confusion matrix that the model over flags benign cases, we know we should work on reducing false positives rather than increasing sesntitivity. Or, the deviation plot tells us that the model could benefit from things such as improved patch selection to reduce ambiguity.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3bbf09c0bb1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3bbf09c0bb1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Emma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3" name="Shape 53"/>
        <p:cNvGrpSpPr/>
        <p:nvPr/>
      </p:nvGrpSpPr>
      <p:grpSpPr>
        <a:xfrm>
          <a:off x="0" y="0"/>
          <a:ext cx="0" cy="0"/>
          <a:chOff x="0" y="0"/>
          <a:chExt cx="0" cy="0"/>
        </a:xfrm>
      </p:grpSpPr>
      <p:sp>
        <p:nvSpPr>
          <p:cNvPr id="54" name="Google Shape;54;p14"/>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55" name="Google Shape;55;p14"/>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56" name="Google Shape;56;p14"/>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p:cSld name="BLANK_1_1_1_1_8">
    <p:spTree>
      <p:nvGrpSpPr>
        <p:cNvPr id="57" name="Shape 57"/>
        <p:cNvGrpSpPr/>
        <p:nvPr/>
      </p:nvGrpSpPr>
      <p:grpSpPr>
        <a:xfrm>
          <a:off x="0" y="0"/>
          <a:ext cx="0" cy="0"/>
          <a:chOff x="0" y="0"/>
          <a:chExt cx="0" cy="0"/>
        </a:xfrm>
      </p:grpSpPr>
      <p:sp>
        <p:nvSpPr>
          <p:cNvPr id="58" name="Google Shape;58;p15"/>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59" name="Google Shape;59;p15"/>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60" name="Google Shape;60;p15"/>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61" name="Google Shape;61;p15"/>
          <p:cNvSpPr txBox="1"/>
          <p:nvPr>
            <p:ph idx="2" type="subTitle"/>
          </p:nvPr>
        </p:nvSpPr>
        <p:spPr>
          <a:xfrm>
            <a:off x="4071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62" name="Google Shape;62;p15"/>
          <p:cNvSpPr txBox="1"/>
          <p:nvPr>
            <p:ph idx="3" type="subTitle"/>
          </p:nvPr>
        </p:nvSpPr>
        <p:spPr>
          <a:xfrm>
            <a:off x="27105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63" name="Google Shape;63;p15"/>
          <p:cNvSpPr txBox="1"/>
          <p:nvPr>
            <p:ph idx="4" type="subTitle"/>
          </p:nvPr>
        </p:nvSpPr>
        <p:spPr>
          <a:xfrm>
            <a:off x="50140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64" name="Google Shape;64;p15"/>
          <p:cNvSpPr txBox="1"/>
          <p:nvPr>
            <p:ph idx="5" type="subTitle"/>
          </p:nvPr>
        </p:nvSpPr>
        <p:spPr>
          <a:xfrm>
            <a:off x="73174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65" name="Google Shape;65;p15"/>
          <p:cNvSpPr txBox="1"/>
          <p:nvPr>
            <p:ph idx="6" type="body"/>
          </p:nvPr>
        </p:nvSpPr>
        <p:spPr>
          <a:xfrm>
            <a:off x="4071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66" name="Google Shape;66;p15"/>
          <p:cNvSpPr txBox="1"/>
          <p:nvPr>
            <p:ph idx="7" type="body"/>
          </p:nvPr>
        </p:nvSpPr>
        <p:spPr>
          <a:xfrm>
            <a:off x="27105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67" name="Google Shape;67;p15"/>
          <p:cNvSpPr txBox="1"/>
          <p:nvPr>
            <p:ph idx="8" type="body"/>
          </p:nvPr>
        </p:nvSpPr>
        <p:spPr>
          <a:xfrm>
            <a:off x="50140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68" name="Google Shape;68;p15"/>
          <p:cNvSpPr txBox="1"/>
          <p:nvPr>
            <p:ph idx="9" type="body"/>
          </p:nvPr>
        </p:nvSpPr>
        <p:spPr>
          <a:xfrm>
            <a:off x="73174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with small statement">
  <p:cSld name="BLANK_1_1_1_1_6">
    <p:spTree>
      <p:nvGrpSpPr>
        <p:cNvPr id="69" name="Shape 69"/>
        <p:cNvGrpSpPr/>
        <p:nvPr/>
      </p:nvGrpSpPr>
      <p:grpSpPr>
        <a:xfrm>
          <a:off x="0" y="0"/>
          <a:ext cx="0" cy="0"/>
          <a:chOff x="0" y="0"/>
          <a:chExt cx="0" cy="0"/>
        </a:xfrm>
      </p:grpSpPr>
      <p:sp>
        <p:nvSpPr>
          <p:cNvPr id="70" name="Google Shape;70;p16"/>
          <p:cNvSpPr txBox="1"/>
          <p:nvPr>
            <p:ph idx="1" type="body"/>
          </p:nvPr>
        </p:nvSpPr>
        <p:spPr>
          <a:xfrm>
            <a:off x="5503325" y="524750"/>
            <a:ext cx="3356100" cy="877800"/>
          </a:xfrm>
          <a:prstGeom prst="rect">
            <a:avLst/>
          </a:prstGeom>
        </p:spPr>
        <p:txBody>
          <a:bodyPr anchorCtr="0" anchor="t" bIns="0" lIns="0" spcFirstLastPara="1" rIns="0" wrap="square" tIns="0">
            <a:spAutoFit/>
          </a:bodyPr>
          <a:lstStyle>
            <a:lvl1pPr indent="-342900" lvl="0" marL="457200">
              <a:spcBef>
                <a:spcPts val="0"/>
              </a:spcBef>
              <a:spcAft>
                <a:spcPts val="0"/>
              </a:spcAft>
              <a:buClr>
                <a:schemeClr val="lt1"/>
              </a:buClr>
              <a:buSzPts val="1800"/>
              <a:buFont typeface="Lato"/>
              <a:buChar char="●"/>
              <a:defRPr sz="1800"/>
            </a:lvl1pPr>
            <a:lvl2pPr indent="-342900" lvl="1" marL="914400">
              <a:spcBef>
                <a:spcPts val="0"/>
              </a:spcBef>
              <a:spcAft>
                <a:spcPts val="0"/>
              </a:spcAft>
              <a:buClr>
                <a:schemeClr val="lt1"/>
              </a:buClr>
              <a:buSzPts val="1800"/>
              <a:buFont typeface="Lato"/>
              <a:buChar char="○"/>
              <a:defRPr sz="1800"/>
            </a:lvl2pPr>
            <a:lvl3pPr indent="-342900" lvl="2" marL="1371600">
              <a:spcBef>
                <a:spcPts val="0"/>
              </a:spcBef>
              <a:spcAft>
                <a:spcPts val="0"/>
              </a:spcAft>
              <a:buClr>
                <a:schemeClr val="lt1"/>
              </a:buClr>
              <a:buSzPts val="1800"/>
              <a:buFont typeface="Lato"/>
              <a:buChar char="■"/>
              <a:defRPr sz="1800"/>
            </a:lvl3pPr>
            <a:lvl4pPr indent="-342900" lvl="3" marL="1828800">
              <a:spcBef>
                <a:spcPts val="0"/>
              </a:spcBef>
              <a:spcAft>
                <a:spcPts val="0"/>
              </a:spcAft>
              <a:buClr>
                <a:schemeClr val="lt1"/>
              </a:buClr>
              <a:buSzPts val="1800"/>
              <a:buFont typeface="Lato"/>
              <a:buChar char="●"/>
              <a:defRPr sz="1800"/>
            </a:lvl4pPr>
            <a:lvl5pPr indent="-342900" lvl="4" marL="2286000">
              <a:spcBef>
                <a:spcPts val="0"/>
              </a:spcBef>
              <a:spcAft>
                <a:spcPts val="0"/>
              </a:spcAft>
              <a:buClr>
                <a:schemeClr val="lt1"/>
              </a:buClr>
              <a:buSzPts val="1800"/>
              <a:buFont typeface="Lato"/>
              <a:buChar char="○"/>
              <a:defRPr sz="1800"/>
            </a:lvl5pPr>
            <a:lvl6pPr indent="-342900" lvl="5" marL="2743200">
              <a:spcBef>
                <a:spcPts val="0"/>
              </a:spcBef>
              <a:spcAft>
                <a:spcPts val="0"/>
              </a:spcAft>
              <a:buClr>
                <a:schemeClr val="lt1"/>
              </a:buClr>
              <a:buSzPts val="1800"/>
              <a:buFont typeface="Lato"/>
              <a:buChar char="■"/>
              <a:defRPr sz="1800"/>
            </a:lvl6pPr>
            <a:lvl7pPr indent="-342900" lvl="6" marL="3200400">
              <a:spcBef>
                <a:spcPts val="0"/>
              </a:spcBef>
              <a:spcAft>
                <a:spcPts val="0"/>
              </a:spcAft>
              <a:buClr>
                <a:schemeClr val="lt1"/>
              </a:buClr>
              <a:buSzPts val="1800"/>
              <a:buFont typeface="Lato"/>
              <a:buChar char="●"/>
              <a:defRPr sz="1800"/>
            </a:lvl7pPr>
            <a:lvl8pPr indent="-342900" lvl="7" marL="3657600">
              <a:spcBef>
                <a:spcPts val="0"/>
              </a:spcBef>
              <a:spcAft>
                <a:spcPts val="0"/>
              </a:spcAft>
              <a:buClr>
                <a:schemeClr val="lt1"/>
              </a:buClr>
              <a:buSzPts val="1800"/>
              <a:buFont typeface="Lato"/>
              <a:buChar char="○"/>
              <a:defRPr sz="1800"/>
            </a:lvl8pPr>
            <a:lvl9pPr indent="-342900" lvl="8" marL="4114800">
              <a:spcBef>
                <a:spcPts val="0"/>
              </a:spcBef>
              <a:spcAft>
                <a:spcPts val="0"/>
              </a:spcAft>
              <a:buClr>
                <a:schemeClr val="lt1"/>
              </a:buClr>
              <a:buSzPts val="1800"/>
              <a:buFont typeface="Lato"/>
              <a:buChar char="■"/>
              <a:defRPr sz="1800"/>
            </a:lvl9pPr>
          </a:lstStyle>
          <a:p/>
        </p:txBody>
      </p:sp>
      <p:sp>
        <p:nvSpPr>
          <p:cNvPr id="71" name="Google Shape;71;p16"/>
          <p:cNvSpPr txBox="1"/>
          <p:nvPr>
            <p:ph type="title"/>
          </p:nvPr>
        </p:nvSpPr>
        <p:spPr>
          <a:xfrm>
            <a:off x="276075" y="457200"/>
            <a:ext cx="50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72" name="Google Shape;72;p16"/>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73" name="Google Shape;73;p16"/>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74" name="Google Shape;74;p16"/>
          <p:cNvSpPr txBox="1"/>
          <p:nvPr>
            <p:ph idx="3" type="subTitle"/>
          </p:nvPr>
        </p:nvSpPr>
        <p:spPr>
          <a:xfrm>
            <a:off x="27952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75" name="Google Shape;75;p16"/>
          <p:cNvSpPr txBox="1"/>
          <p:nvPr>
            <p:ph idx="4" type="subTitle"/>
          </p:nvPr>
        </p:nvSpPr>
        <p:spPr>
          <a:xfrm>
            <a:off x="2489940"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76" name="Google Shape;76;p16"/>
          <p:cNvSpPr txBox="1"/>
          <p:nvPr>
            <p:ph idx="5" type="subTitle"/>
          </p:nvPr>
        </p:nvSpPr>
        <p:spPr>
          <a:xfrm>
            <a:off x="469513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77" name="Google Shape;77;p16"/>
          <p:cNvSpPr txBox="1"/>
          <p:nvPr>
            <p:ph idx="6" type="subTitle"/>
          </p:nvPr>
        </p:nvSpPr>
        <p:spPr>
          <a:xfrm>
            <a:off x="6900335"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78" name="Google Shape;78;p16"/>
          <p:cNvSpPr txBox="1"/>
          <p:nvPr>
            <p:ph idx="7" type="body"/>
          </p:nvPr>
        </p:nvSpPr>
        <p:spPr>
          <a:xfrm>
            <a:off x="27495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79" name="Google Shape;79;p16"/>
          <p:cNvSpPr txBox="1"/>
          <p:nvPr>
            <p:ph idx="8" type="body"/>
          </p:nvPr>
        </p:nvSpPr>
        <p:spPr>
          <a:xfrm>
            <a:off x="248994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0" name="Google Shape;80;p16"/>
          <p:cNvSpPr txBox="1"/>
          <p:nvPr>
            <p:ph idx="9" type="body"/>
          </p:nvPr>
        </p:nvSpPr>
        <p:spPr>
          <a:xfrm>
            <a:off x="470493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1" name="Google Shape;81;p16"/>
          <p:cNvSpPr txBox="1"/>
          <p:nvPr>
            <p:ph idx="13" type="body"/>
          </p:nvPr>
        </p:nvSpPr>
        <p:spPr>
          <a:xfrm>
            <a:off x="6900335"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82" name="Google Shape;82;p16"/>
          <p:cNvSpPr txBox="1"/>
          <p:nvPr>
            <p:ph idx="14" type="subTitle"/>
          </p:nvPr>
        </p:nvSpPr>
        <p:spPr>
          <a:xfrm>
            <a:off x="27952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83" name="Google Shape;83;p16"/>
          <p:cNvSpPr txBox="1"/>
          <p:nvPr>
            <p:ph idx="15" type="subTitle"/>
          </p:nvPr>
        </p:nvSpPr>
        <p:spPr>
          <a:xfrm>
            <a:off x="248995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84" name="Google Shape;84;p16"/>
          <p:cNvSpPr txBox="1"/>
          <p:nvPr>
            <p:ph idx="16" type="subTitle"/>
          </p:nvPr>
        </p:nvSpPr>
        <p:spPr>
          <a:xfrm>
            <a:off x="470037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85" name="Google Shape;85;p16"/>
          <p:cNvSpPr txBox="1"/>
          <p:nvPr>
            <p:ph idx="17" type="subTitle"/>
          </p:nvPr>
        </p:nvSpPr>
        <p:spPr>
          <a:xfrm>
            <a:off x="691080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right image and 2 text boxes">
  <p:cSld name="BLANK_1_1_1_1_5">
    <p:spTree>
      <p:nvGrpSpPr>
        <p:cNvPr id="86" name="Shape 86"/>
        <p:cNvGrpSpPr/>
        <p:nvPr/>
      </p:nvGrpSpPr>
      <p:grpSpPr>
        <a:xfrm>
          <a:off x="0" y="0"/>
          <a:ext cx="0" cy="0"/>
          <a:chOff x="0" y="0"/>
          <a:chExt cx="0" cy="0"/>
        </a:xfrm>
      </p:grpSpPr>
      <p:sp>
        <p:nvSpPr>
          <p:cNvPr id="87" name="Google Shape;87;p17"/>
          <p:cNvSpPr txBox="1"/>
          <p:nvPr>
            <p:ph type="title"/>
          </p:nvPr>
        </p:nvSpPr>
        <p:spPr>
          <a:xfrm>
            <a:off x="276075" y="457200"/>
            <a:ext cx="6432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8" name="Google Shape;88;p17"/>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89" name="Google Shape;89;p17"/>
          <p:cNvSpPr/>
          <p:nvPr>
            <p:ph idx="2" type="pic"/>
          </p:nvPr>
        </p:nvSpPr>
        <p:spPr>
          <a:xfrm>
            <a:off x="6802800" y="0"/>
            <a:ext cx="2341200" cy="1189800"/>
          </a:xfrm>
          <a:prstGeom prst="rect">
            <a:avLst/>
          </a:prstGeom>
          <a:noFill/>
          <a:ln>
            <a:noFill/>
          </a:ln>
        </p:spPr>
      </p:sp>
      <p:sp>
        <p:nvSpPr>
          <p:cNvPr id="90" name="Google Shape;90;p17"/>
          <p:cNvSpPr txBox="1"/>
          <p:nvPr>
            <p:ph idx="1" type="subTitle"/>
          </p:nvPr>
        </p:nvSpPr>
        <p:spPr>
          <a:xfrm>
            <a:off x="4682775" y="2717425"/>
            <a:ext cx="20262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91" name="Google Shape;91;p17"/>
          <p:cNvSpPr txBox="1"/>
          <p:nvPr>
            <p:ph idx="3" type="subTitle"/>
          </p:nvPr>
        </p:nvSpPr>
        <p:spPr>
          <a:xfrm>
            <a:off x="6843453" y="2717425"/>
            <a:ext cx="20301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92" name="Google Shape;92;p17"/>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93" name="Google Shape;93;p17"/>
          <p:cNvSpPr txBox="1"/>
          <p:nvPr>
            <p:ph idx="5" type="body"/>
          </p:nvPr>
        </p:nvSpPr>
        <p:spPr>
          <a:xfrm>
            <a:off x="4682775" y="3042765"/>
            <a:ext cx="20262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94" name="Google Shape;94;p17"/>
          <p:cNvSpPr txBox="1"/>
          <p:nvPr>
            <p:ph idx="6" type="body"/>
          </p:nvPr>
        </p:nvSpPr>
        <p:spPr>
          <a:xfrm>
            <a:off x="6843455" y="3042765"/>
            <a:ext cx="20301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peakers info">
  <p:cSld name="BLANK_1_1_1_1_3">
    <p:spTree>
      <p:nvGrpSpPr>
        <p:cNvPr id="95" name="Shape 95"/>
        <p:cNvGrpSpPr/>
        <p:nvPr/>
      </p:nvGrpSpPr>
      <p:grpSpPr>
        <a:xfrm>
          <a:off x="0" y="0"/>
          <a:ext cx="0" cy="0"/>
          <a:chOff x="0" y="0"/>
          <a:chExt cx="0" cy="0"/>
        </a:xfrm>
      </p:grpSpPr>
      <p:sp>
        <p:nvSpPr>
          <p:cNvPr id="96" name="Google Shape;96;p18"/>
          <p:cNvSpPr/>
          <p:nvPr/>
        </p:nvSpPr>
        <p:spPr>
          <a:xfrm>
            <a:off x="5461825" y="850"/>
            <a:ext cx="368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7" name="Google Shape;97;p18"/>
          <p:cNvSpPr txBox="1"/>
          <p:nvPr>
            <p:ph idx="1" type="subTitle"/>
          </p:nvPr>
        </p:nvSpPr>
        <p:spPr>
          <a:xfrm>
            <a:off x="1987875"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98" name="Google Shape;98;p18"/>
          <p:cNvSpPr txBox="1"/>
          <p:nvPr>
            <p:ph idx="2" type="subTitle"/>
          </p:nvPr>
        </p:nvSpPr>
        <p:spPr>
          <a:xfrm>
            <a:off x="1987875"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99" name="Google Shape;99;p18"/>
          <p:cNvSpPr/>
          <p:nvPr>
            <p:ph idx="3" type="pic"/>
          </p:nvPr>
        </p:nvSpPr>
        <p:spPr>
          <a:xfrm>
            <a:off x="-50" y="1424175"/>
            <a:ext cx="1838100" cy="3267000"/>
          </a:xfrm>
          <a:prstGeom prst="rect">
            <a:avLst/>
          </a:prstGeom>
          <a:noFill/>
          <a:ln>
            <a:noFill/>
          </a:ln>
        </p:spPr>
      </p:sp>
      <p:sp>
        <p:nvSpPr>
          <p:cNvPr id="100" name="Google Shape;100;p18"/>
          <p:cNvSpPr/>
          <p:nvPr>
            <p:ph idx="4" type="pic"/>
          </p:nvPr>
        </p:nvSpPr>
        <p:spPr>
          <a:xfrm>
            <a:off x="4527160" y="1424175"/>
            <a:ext cx="1838100" cy="3267000"/>
          </a:xfrm>
          <a:prstGeom prst="rect">
            <a:avLst/>
          </a:prstGeom>
          <a:noFill/>
          <a:ln>
            <a:noFill/>
          </a:ln>
        </p:spPr>
      </p:sp>
      <p:sp>
        <p:nvSpPr>
          <p:cNvPr id="101" name="Google Shape;101;p18"/>
          <p:cNvSpPr txBox="1"/>
          <p:nvPr>
            <p:ph idx="5" type="subTitle"/>
          </p:nvPr>
        </p:nvSpPr>
        <p:spPr>
          <a:xfrm>
            <a:off x="6525486"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02" name="Google Shape;102;p18"/>
          <p:cNvSpPr txBox="1"/>
          <p:nvPr>
            <p:ph idx="6" type="subTitle"/>
          </p:nvPr>
        </p:nvSpPr>
        <p:spPr>
          <a:xfrm>
            <a:off x="6525486"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103" name="Google Shape;103;p18"/>
          <p:cNvSpPr txBox="1"/>
          <p:nvPr>
            <p:ph type="title"/>
          </p:nvPr>
        </p:nvSpPr>
        <p:spPr>
          <a:xfrm>
            <a:off x="276075" y="457200"/>
            <a:ext cx="4248900" cy="7614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04" name="Google Shape;104;p18"/>
          <p:cNvSpPr txBox="1"/>
          <p:nvPr>
            <p:ph idx="7"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05" name="Google Shape;105;p18"/>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06" name="Google Shape;106;p18"/>
          <p:cNvSpPr txBox="1"/>
          <p:nvPr>
            <p:ph idx="8" type="body"/>
          </p:nvPr>
        </p:nvSpPr>
        <p:spPr>
          <a:xfrm>
            <a:off x="1987875" y="3545425"/>
            <a:ext cx="17550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
        <p:nvSpPr>
          <p:cNvPr id="107" name="Google Shape;107;p18"/>
          <p:cNvSpPr txBox="1"/>
          <p:nvPr>
            <p:ph idx="9" type="body"/>
          </p:nvPr>
        </p:nvSpPr>
        <p:spPr>
          <a:xfrm>
            <a:off x="6536675" y="3545425"/>
            <a:ext cx="16998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2">
    <p:spTree>
      <p:nvGrpSpPr>
        <p:cNvPr id="108" name="Shape 108"/>
        <p:cNvGrpSpPr/>
        <p:nvPr/>
      </p:nvGrpSpPr>
      <p:grpSpPr>
        <a:xfrm>
          <a:off x="0" y="0"/>
          <a:ext cx="0" cy="0"/>
          <a:chOff x="0" y="0"/>
          <a:chExt cx="0" cy="0"/>
        </a:xfrm>
      </p:grpSpPr>
      <p:sp>
        <p:nvSpPr>
          <p:cNvPr id="109" name="Google Shape;109;p19"/>
          <p:cNvSpPr/>
          <p:nvPr>
            <p:ph idx="2" type="pic"/>
          </p:nvPr>
        </p:nvSpPr>
        <p:spPr>
          <a:xfrm>
            <a:off x="4138225" y="517875"/>
            <a:ext cx="1152300" cy="1203600"/>
          </a:xfrm>
          <a:prstGeom prst="rect">
            <a:avLst/>
          </a:prstGeom>
          <a:noFill/>
          <a:ln>
            <a:noFill/>
          </a:ln>
        </p:spPr>
      </p:sp>
      <p:sp>
        <p:nvSpPr>
          <p:cNvPr id="110" name="Google Shape;110;p19"/>
          <p:cNvSpPr/>
          <p:nvPr>
            <p:ph idx="3" type="pic"/>
          </p:nvPr>
        </p:nvSpPr>
        <p:spPr>
          <a:xfrm>
            <a:off x="4138225" y="1957188"/>
            <a:ext cx="1152300" cy="1203600"/>
          </a:xfrm>
          <a:prstGeom prst="rect">
            <a:avLst/>
          </a:prstGeom>
          <a:noFill/>
          <a:ln>
            <a:noFill/>
          </a:ln>
        </p:spPr>
      </p:sp>
      <p:sp>
        <p:nvSpPr>
          <p:cNvPr id="111" name="Google Shape;111;p19"/>
          <p:cNvSpPr/>
          <p:nvPr>
            <p:ph idx="4" type="pic"/>
          </p:nvPr>
        </p:nvSpPr>
        <p:spPr>
          <a:xfrm>
            <a:off x="4138213" y="3403813"/>
            <a:ext cx="1152300" cy="1203600"/>
          </a:xfrm>
          <a:prstGeom prst="rect">
            <a:avLst/>
          </a:prstGeom>
          <a:noFill/>
          <a:ln>
            <a:noFill/>
          </a:ln>
        </p:spPr>
      </p:sp>
      <p:sp>
        <p:nvSpPr>
          <p:cNvPr id="112" name="Google Shape;112;p19"/>
          <p:cNvSpPr/>
          <p:nvPr>
            <p:ph idx="5" type="pic"/>
          </p:nvPr>
        </p:nvSpPr>
        <p:spPr>
          <a:xfrm>
            <a:off x="6573252" y="517875"/>
            <a:ext cx="1152300" cy="1203600"/>
          </a:xfrm>
          <a:prstGeom prst="rect">
            <a:avLst/>
          </a:prstGeom>
          <a:noFill/>
          <a:ln>
            <a:noFill/>
          </a:ln>
        </p:spPr>
      </p:sp>
      <p:sp>
        <p:nvSpPr>
          <p:cNvPr id="113" name="Google Shape;113;p19"/>
          <p:cNvSpPr/>
          <p:nvPr>
            <p:ph idx="6" type="pic"/>
          </p:nvPr>
        </p:nvSpPr>
        <p:spPr>
          <a:xfrm>
            <a:off x="6573252" y="1957188"/>
            <a:ext cx="1152300" cy="1203600"/>
          </a:xfrm>
          <a:prstGeom prst="rect">
            <a:avLst/>
          </a:prstGeom>
          <a:noFill/>
          <a:ln>
            <a:noFill/>
          </a:ln>
        </p:spPr>
      </p:sp>
      <p:sp>
        <p:nvSpPr>
          <p:cNvPr id="114" name="Google Shape;114;p19"/>
          <p:cNvSpPr/>
          <p:nvPr>
            <p:ph idx="7" type="pic"/>
          </p:nvPr>
        </p:nvSpPr>
        <p:spPr>
          <a:xfrm>
            <a:off x="6573252" y="3403813"/>
            <a:ext cx="1152300" cy="1203600"/>
          </a:xfrm>
          <a:prstGeom prst="rect">
            <a:avLst/>
          </a:prstGeom>
          <a:noFill/>
          <a:ln>
            <a:noFill/>
          </a:ln>
        </p:spPr>
      </p:sp>
      <p:sp>
        <p:nvSpPr>
          <p:cNvPr id="115" name="Google Shape;115;p19"/>
          <p:cNvSpPr txBox="1"/>
          <p:nvPr>
            <p:ph idx="1" type="subTitle"/>
          </p:nvPr>
        </p:nvSpPr>
        <p:spPr>
          <a:xfrm>
            <a:off x="5406561"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6" name="Google Shape;116;p19"/>
          <p:cNvSpPr txBox="1"/>
          <p:nvPr>
            <p:ph idx="8" type="subTitle"/>
          </p:nvPr>
        </p:nvSpPr>
        <p:spPr>
          <a:xfrm>
            <a:off x="5406561"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7" name="Google Shape;117;p19"/>
          <p:cNvSpPr txBox="1"/>
          <p:nvPr>
            <p:ph idx="9" type="subTitle"/>
          </p:nvPr>
        </p:nvSpPr>
        <p:spPr>
          <a:xfrm>
            <a:off x="5406561"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8" name="Google Shape;118;p19"/>
          <p:cNvSpPr txBox="1"/>
          <p:nvPr>
            <p:ph idx="13" type="subTitle"/>
          </p:nvPr>
        </p:nvSpPr>
        <p:spPr>
          <a:xfrm>
            <a:off x="7840736"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19" name="Google Shape;119;p19"/>
          <p:cNvSpPr txBox="1"/>
          <p:nvPr>
            <p:ph idx="14" type="subTitle"/>
          </p:nvPr>
        </p:nvSpPr>
        <p:spPr>
          <a:xfrm>
            <a:off x="7840736"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20" name="Google Shape;120;p19"/>
          <p:cNvSpPr txBox="1"/>
          <p:nvPr>
            <p:ph idx="15" type="subTitle"/>
          </p:nvPr>
        </p:nvSpPr>
        <p:spPr>
          <a:xfrm>
            <a:off x="7840736"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121" name="Google Shape;121;p19"/>
          <p:cNvSpPr txBox="1"/>
          <p:nvPr>
            <p:ph idx="16" type="subTitle"/>
          </p:nvPr>
        </p:nvSpPr>
        <p:spPr>
          <a:xfrm>
            <a:off x="5406550"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2" name="Google Shape;122;p19"/>
          <p:cNvSpPr txBox="1"/>
          <p:nvPr>
            <p:ph idx="17" type="subTitle"/>
          </p:nvPr>
        </p:nvSpPr>
        <p:spPr>
          <a:xfrm>
            <a:off x="7840725"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3" name="Google Shape;123;p19"/>
          <p:cNvSpPr txBox="1"/>
          <p:nvPr>
            <p:ph idx="18" type="subTitle"/>
          </p:nvPr>
        </p:nvSpPr>
        <p:spPr>
          <a:xfrm>
            <a:off x="5406550"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4" name="Google Shape;124;p19"/>
          <p:cNvSpPr txBox="1"/>
          <p:nvPr>
            <p:ph idx="19" type="subTitle"/>
          </p:nvPr>
        </p:nvSpPr>
        <p:spPr>
          <a:xfrm>
            <a:off x="7840725"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5" name="Google Shape;125;p19"/>
          <p:cNvSpPr txBox="1"/>
          <p:nvPr>
            <p:ph idx="20" type="subTitle"/>
          </p:nvPr>
        </p:nvSpPr>
        <p:spPr>
          <a:xfrm>
            <a:off x="5406550"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6" name="Google Shape;126;p19"/>
          <p:cNvSpPr txBox="1"/>
          <p:nvPr>
            <p:ph idx="21" type="subTitle"/>
          </p:nvPr>
        </p:nvSpPr>
        <p:spPr>
          <a:xfrm>
            <a:off x="7840725"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27" name="Google Shape;127;p19"/>
          <p:cNvSpPr txBox="1"/>
          <p:nvPr>
            <p:ph type="title"/>
          </p:nvPr>
        </p:nvSpPr>
        <p:spPr>
          <a:xfrm>
            <a:off x="276075" y="457200"/>
            <a:ext cx="38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8" name="Google Shape;128;p19"/>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29" name="Google Shape;129;p19"/>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2">
    <p:spTree>
      <p:nvGrpSpPr>
        <p:cNvPr id="130" name="Shape 130"/>
        <p:cNvGrpSpPr/>
        <p:nvPr/>
      </p:nvGrpSpPr>
      <p:grpSpPr>
        <a:xfrm>
          <a:off x="0" y="0"/>
          <a:ext cx="0" cy="0"/>
          <a:chOff x="0" y="0"/>
          <a:chExt cx="0" cy="0"/>
        </a:xfrm>
      </p:grpSpPr>
      <p:sp>
        <p:nvSpPr>
          <p:cNvPr id="131" name="Google Shape;131;p20"/>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4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32" name="Google Shape;132;p20"/>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33" name="Google Shape;133;p20"/>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34" name="Google Shape;134;p20"/>
          <p:cNvSpPr txBox="1"/>
          <p:nvPr>
            <p:ph idx="2" type="body"/>
          </p:nvPr>
        </p:nvSpPr>
        <p:spPr>
          <a:xfrm>
            <a:off x="276075" y="1763425"/>
            <a:ext cx="4342800" cy="7113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with picture">
  <p:cSld name="BLANK_1_1_1_1_1_1_1_2">
    <p:spTree>
      <p:nvGrpSpPr>
        <p:cNvPr id="135" name="Shape 135"/>
        <p:cNvGrpSpPr/>
        <p:nvPr/>
      </p:nvGrpSpPr>
      <p:grpSpPr>
        <a:xfrm>
          <a:off x="0" y="0"/>
          <a:ext cx="0" cy="0"/>
          <a:chOff x="0" y="0"/>
          <a:chExt cx="0" cy="0"/>
        </a:xfrm>
      </p:grpSpPr>
      <p:sp>
        <p:nvSpPr>
          <p:cNvPr id="136" name="Google Shape;136;p21"/>
          <p:cNvSpPr txBox="1"/>
          <p:nvPr>
            <p:ph type="title"/>
          </p:nvPr>
        </p:nvSpPr>
        <p:spPr>
          <a:xfrm>
            <a:off x="1182150" y="1765350"/>
            <a:ext cx="6779700" cy="17652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a:lvl2pPr>
            <a:lvl3pPr lvl="2" algn="ctr">
              <a:lnSpc>
                <a:spcPct val="90000"/>
              </a:lnSpc>
              <a:spcBef>
                <a:spcPts val="0"/>
              </a:spcBef>
              <a:spcAft>
                <a:spcPts val="0"/>
              </a:spcAft>
              <a:buNone/>
              <a:defRPr/>
            </a:lvl3pPr>
            <a:lvl4pPr lvl="3" algn="ctr">
              <a:lnSpc>
                <a:spcPct val="90000"/>
              </a:lnSpc>
              <a:spcBef>
                <a:spcPts val="0"/>
              </a:spcBef>
              <a:spcAft>
                <a:spcPts val="0"/>
              </a:spcAft>
              <a:buNone/>
              <a:defRPr/>
            </a:lvl4pPr>
            <a:lvl5pPr lvl="4" algn="ctr">
              <a:lnSpc>
                <a:spcPct val="90000"/>
              </a:lnSpc>
              <a:spcBef>
                <a:spcPts val="0"/>
              </a:spcBef>
              <a:spcAft>
                <a:spcPts val="0"/>
              </a:spcAft>
              <a:buNone/>
              <a:defRPr/>
            </a:lvl5pPr>
            <a:lvl6pPr lvl="5" algn="ctr">
              <a:lnSpc>
                <a:spcPct val="90000"/>
              </a:lnSpc>
              <a:spcBef>
                <a:spcPts val="0"/>
              </a:spcBef>
              <a:spcAft>
                <a:spcPts val="0"/>
              </a:spcAft>
              <a:buNone/>
              <a:defRPr/>
            </a:lvl6pPr>
            <a:lvl7pPr lvl="6" algn="ctr">
              <a:lnSpc>
                <a:spcPct val="90000"/>
              </a:lnSpc>
              <a:spcBef>
                <a:spcPts val="0"/>
              </a:spcBef>
              <a:spcAft>
                <a:spcPts val="0"/>
              </a:spcAft>
              <a:buNone/>
              <a:defRPr/>
            </a:lvl7pPr>
            <a:lvl8pPr lvl="7" algn="ctr">
              <a:lnSpc>
                <a:spcPct val="90000"/>
              </a:lnSpc>
              <a:spcBef>
                <a:spcPts val="0"/>
              </a:spcBef>
              <a:spcAft>
                <a:spcPts val="0"/>
              </a:spcAft>
              <a:buNone/>
              <a:defRPr/>
            </a:lvl8pPr>
            <a:lvl9pPr lvl="8" algn="ctr">
              <a:lnSpc>
                <a:spcPct val="90000"/>
              </a:lnSpc>
              <a:spcBef>
                <a:spcPts val="0"/>
              </a:spcBef>
              <a:spcAft>
                <a:spcPts val="0"/>
              </a:spcAft>
              <a:buNone/>
              <a:defRPr/>
            </a:lvl9pPr>
          </a:lstStyle>
          <a:p/>
        </p:txBody>
      </p:sp>
      <p:sp>
        <p:nvSpPr>
          <p:cNvPr id="137" name="Google Shape;137;p21"/>
          <p:cNvSpPr txBox="1"/>
          <p:nvPr>
            <p:ph idx="2" type="title"/>
          </p:nvPr>
        </p:nvSpPr>
        <p:spPr>
          <a:xfrm>
            <a:off x="1182150" y="4058050"/>
            <a:ext cx="6779700" cy="3972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None/>
              <a:defRPr sz="1200">
                <a:solidFill>
                  <a:schemeClr val="lt1"/>
                </a:solidFill>
                <a:latin typeface="Lato"/>
                <a:ea typeface="Lato"/>
                <a:cs typeface="Lato"/>
                <a:sym typeface="Lato"/>
              </a:defRPr>
            </a:lvl1pPr>
            <a:lvl2pPr lvl="1" algn="ctr">
              <a:lnSpc>
                <a:spcPct val="115000"/>
              </a:lnSpc>
              <a:spcBef>
                <a:spcPts val="0"/>
              </a:spcBef>
              <a:spcAft>
                <a:spcPts val="0"/>
              </a:spcAft>
              <a:buNone/>
              <a:defRPr sz="1200">
                <a:solidFill>
                  <a:schemeClr val="lt1"/>
                </a:solidFill>
                <a:latin typeface="Lato"/>
                <a:ea typeface="Lato"/>
                <a:cs typeface="Lato"/>
                <a:sym typeface="Lato"/>
              </a:defRPr>
            </a:lvl2pPr>
            <a:lvl3pPr lvl="2" algn="ctr">
              <a:lnSpc>
                <a:spcPct val="115000"/>
              </a:lnSpc>
              <a:spcBef>
                <a:spcPts val="0"/>
              </a:spcBef>
              <a:spcAft>
                <a:spcPts val="0"/>
              </a:spcAft>
              <a:buNone/>
              <a:defRPr sz="1200">
                <a:solidFill>
                  <a:schemeClr val="lt1"/>
                </a:solidFill>
                <a:latin typeface="Lato"/>
                <a:ea typeface="Lato"/>
                <a:cs typeface="Lato"/>
                <a:sym typeface="Lato"/>
              </a:defRPr>
            </a:lvl3pPr>
            <a:lvl4pPr lvl="3" algn="ctr">
              <a:lnSpc>
                <a:spcPct val="115000"/>
              </a:lnSpc>
              <a:spcBef>
                <a:spcPts val="0"/>
              </a:spcBef>
              <a:spcAft>
                <a:spcPts val="0"/>
              </a:spcAft>
              <a:buNone/>
              <a:defRPr sz="1200">
                <a:solidFill>
                  <a:schemeClr val="lt1"/>
                </a:solidFill>
                <a:latin typeface="Lato"/>
                <a:ea typeface="Lato"/>
                <a:cs typeface="Lato"/>
                <a:sym typeface="Lato"/>
              </a:defRPr>
            </a:lvl4pPr>
            <a:lvl5pPr lvl="4" algn="ctr">
              <a:lnSpc>
                <a:spcPct val="115000"/>
              </a:lnSpc>
              <a:spcBef>
                <a:spcPts val="0"/>
              </a:spcBef>
              <a:spcAft>
                <a:spcPts val="0"/>
              </a:spcAft>
              <a:buNone/>
              <a:defRPr sz="1200">
                <a:solidFill>
                  <a:schemeClr val="lt1"/>
                </a:solidFill>
                <a:latin typeface="Lato"/>
                <a:ea typeface="Lato"/>
                <a:cs typeface="Lato"/>
                <a:sym typeface="Lato"/>
              </a:defRPr>
            </a:lvl5pPr>
            <a:lvl6pPr lvl="5" algn="ctr">
              <a:lnSpc>
                <a:spcPct val="115000"/>
              </a:lnSpc>
              <a:spcBef>
                <a:spcPts val="0"/>
              </a:spcBef>
              <a:spcAft>
                <a:spcPts val="0"/>
              </a:spcAft>
              <a:buNone/>
              <a:defRPr sz="1200">
                <a:solidFill>
                  <a:schemeClr val="lt1"/>
                </a:solidFill>
                <a:latin typeface="Lato"/>
                <a:ea typeface="Lato"/>
                <a:cs typeface="Lato"/>
                <a:sym typeface="Lato"/>
              </a:defRPr>
            </a:lvl6pPr>
            <a:lvl7pPr lvl="6" algn="ctr">
              <a:lnSpc>
                <a:spcPct val="115000"/>
              </a:lnSpc>
              <a:spcBef>
                <a:spcPts val="0"/>
              </a:spcBef>
              <a:spcAft>
                <a:spcPts val="0"/>
              </a:spcAft>
              <a:buNone/>
              <a:defRPr sz="1200">
                <a:solidFill>
                  <a:schemeClr val="lt1"/>
                </a:solidFill>
                <a:latin typeface="Lato"/>
                <a:ea typeface="Lato"/>
                <a:cs typeface="Lato"/>
                <a:sym typeface="Lato"/>
              </a:defRPr>
            </a:lvl7pPr>
            <a:lvl8pPr lvl="7" algn="ctr">
              <a:lnSpc>
                <a:spcPct val="115000"/>
              </a:lnSpc>
              <a:spcBef>
                <a:spcPts val="0"/>
              </a:spcBef>
              <a:spcAft>
                <a:spcPts val="0"/>
              </a:spcAft>
              <a:buNone/>
              <a:defRPr sz="1200">
                <a:solidFill>
                  <a:schemeClr val="lt1"/>
                </a:solidFill>
                <a:latin typeface="Lato"/>
                <a:ea typeface="Lato"/>
                <a:cs typeface="Lato"/>
                <a:sym typeface="Lato"/>
              </a:defRPr>
            </a:lvl8pPr>
            <a:lvl9pPr lvl="8" algn="ctr">
              <a:lnSpc>
                <a:spcPct val="115000"/>
              </a:lnSpc>
              <a:spcBef>
                <a:spcPts val="0"/>
              </a:spcBef>
              <a:spcAft>
                <a:spcPts val="0"/>
              </a:spcAft>
              <a:buNone/>
              <a:defRPr sz="1200">
                <a:solidFill>
                  <a:schemeClr val="lt1"/>
                </a:solidFill>
                <a:latin typeface="Lato"/>
                <a:ea typeface="Lato"/>
                <a:cs typeface="Lato"/>
                <a:sym typeface="Lato"/>
              </a:defRPr>
            </a:lvl9pPr>
          </a:lstStyle>
          <a:p/>
        </p:txBody>
      </p:sp>
      <p:sp>
        <p:nvSpPr>
          <p:cNvPr id="138" name="Google Shape;138;p2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39" name="Google Shape;139;p21"/>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40" name="Google Shape;140;p21"/>
          <p:cNvSpPr/>
          <p:nvPr>
            <p:ph idx="3" type="pic"/>
          </p:nvPr>
        </p:nvSpPr>
        <p:spPr>
          <a:xfrm>
            <a:off x="0" y="0"/>
            <a:ext cx="9144000" cy="10791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dk2"/>
        </a:solidFill>
      </p:bgPr>
    </p:bg>
    <p:spTree>
      <p:nvGrpSpPr>
        <p:cNvPr id="141" name="Shape 141"/>
        <p:cNvGrpSpPr/>
        <p:nvPr/>
      </p:nvGrpSpPr>
      <p:grpSpPr>
        <a:xfrm>
          <a:off x="0" y="0"/>
          <a:ext cx="0" cy="0"/>
          <a:chOff x="0" y="0"/>
          <a:chExt cx="0" cy="0"/>
        </a:xfrm>
      </p:grpSpPr>
      <p:sp>
        <p:nvSpPr>
          <p:cNvPr id="142" name="Google Shape;142;p22"/>
          <p:cNvSpPr txBox="1"/>
          <p:nvPr>
            <p:ph type="title"/>
          </p:nvPr>
        </p:nvSpPr>
        <p:spPr>
          <a:xfrm>
            <a:off x="270983" y="1985025"/>
            <a:ext cx="3342900" cy="273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43" name="Google Shape;143;p22"/>
          <p:cNvSpPr txBox="1"/>
          <p:nvPr>
            <p:ph idx="2" type="title"/>
          </p:nvPr>
        </p:nvSpPr>
        <p:spPr>
          <a:xfrm>
            <a:off x="270983"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4" name="Google Shape;144;p22"/>
          <p:cNvSpPr txBox="1"/>
          <p:nvPr>
            <p:ph idx="3" type="title"/>
          </p:nvPr>
        </p:nvSpPr>
        <p:spPr>
          <a:xfrm>
            <a:off x="270983"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5" name="Google Shape;145;p22"/>
          <p:cNvSpPr txBox="1"/>
          <p:nvPr>
            <p:ph idx="4" type="title"/>
          </p:nvPr>
        </p:nvSpPr>
        <p:spPr>
          <a:xfrm>
            <a:off x="4858317" y="19850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6" name="Google Shape;146;p22"/>
          <p:cNvSpPr txBox="1"/>
          <p:nvPr>
            <p:ph idx="5" type="title"/>
          </p:nvPr>
        </p:nvSpPr>
        <p:spPr>
          <a:xfrm>
            <a:off x="4858317"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7" name="Google Shape;147;p22"/>
          <p:cNvSpPr txBox="1"/>
          <p:nvPr>
            <p:ph idx="6" type="title"/>
          </p:nvPr>
        </p:nvSpPr>
        <p:spPr>
          <a:xfrm>
            <a:off x="4858317"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48" name="Google Shape;148;p22"/>
          <p:cNvSpPr txBox="1"/>
          <p:nvPr>
            <p:ph idx="7"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49" name="Google Shape;149;p2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50" name="Google Shape;150;p22"/>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51" name="Google Shape;151;p22"/>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2" name="Google Shape;152;p22"/>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3" name="Google Shape;153;p22"/>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4" name="Google Shape;154;p22"/>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5" name="Google Shape;155;p22"/>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56" name="Google Shape;156;p22"/>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ith right text">
  <p:cSld name="BLANK_1_1_1_1_1_1_1_1_1_1_1_1_1_1_1_1">
    <p:spTree>
      <p:nvGrpSpPr>
        <p:cNvPr id="157" name="Shape 157"/>
        <p:cNvGrpSpPr/>
        <p:nvPr/>
      </p:nvGrpSpPr>
      <p:grpSpPr>
        <a:xfrm>
          <a:off x="0" y="0"/>
          <a:ext cx="0" cy="0"/>
          <a:chOff x="0" y="0"/>
          <a:chExt cx="0" cy="0"/>
        </a:xfrm>
      </p:grpSpPr>
      <p:sp>
        <p:nvSpPr>
          <p:cNvPr id="158" name="Google Shape;158;p23"/>
          <p:cNvSpPr/>
          <p:nvPr>
            <p:ph idx="2" type="pic"/>
          </p:nvPr>
        </p:nvSpPr>
        <p:spPr>
          <a:xfrm>
            <a:off x="0" y="0"/>
            <a:ext cx="4348800" cy="5143500"/>
          </a:xfrm>
          <a:prstGeom prst="rect">
            <a:avLst/>
          </a:prstGeom>
          <a:noFill/>
          <a:ln>
            <a:noFill/>
          </a:ln>
        </p:spPr>
      </p:sp>
      <p:sp>
        <p:nvSpPr>
          <p:cNvPr id="159" name="Google Shape;159;p23"/>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60" name="Google Shape;160;p23"/>
          <p:cNvSpPr txBox="1"/>
          <p:nvPr>
            <p:ph type="title"/>
          </p:nvPr>
        </p:nvSpPr>
        <p:spPr>
          <a:xfrm>
            <a:off x="4618950" y="457200"/>
            <a:ext cx="4251600" cy="7515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1" name="Google Shape;161;p23"/>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62" name="Google Shape;162;p23"/>
          <p:cNvSpPr txBox="1"/>
          <p:nvPr>
            <p:ph idx="3" type="subTitle"/>
          </p:nvPr>
        </p:nvSpPr>
        <p:spPr>
          <a:xfrm>
            <a:off x="4618950" y="2823908"/>
            <a:ext cx="4251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63" name="Google Shape;163;p23"/>
          <p:cNvSpPr txBox="1"/>
          <p:nvPr>
            <p:ph idx="4" type="body"/>
          </p:nvPr>
        </p:nvSpPr>
        <p:spPr>
          <a:xfrm>
            <a:off x="4618950" y="3457500"/>
            <a:ext cx="4251600" cy="906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Lato"/>
              <a:buChar char="●"/>
              <a:defRPr/>
            </a:lvl1pPr>
            <a:lvl2pPr indent="-304800" lvl="1" marL="914400">
              <a:spcBef>
                <a:spcPts val="0"/>
              </a:spcBef>
              <a:spcAft>
                <a:spcPts val="0"/>
              </a:spcAft>
              <a:buClr>
                <a:schemeClr val="lt1"/>
              </a:buClr>
              <a:buSzPts val="1200"/>
              <a:buFont typeface="Lato"/>
              <a:buChar char="○"/>
              <a:defRPr/>
            </a:lvl2pPr>
            <a:lvl3pPr indent="-304800" lvl="2" marL="1371600">
              <a:spcBef>
                <a:spcPts val="0"/>
              </a:spcBef>
              <a:spcAft>
                <a:spcPts val="0"/>
              </a:spcAft>
              <a:buClr>
                <a:schemeClr val="lt1"/>
              </a:buClr>
              <a:buSzPts val="1200"/>
              <a:buFont typeface="Lato"/>
              <a:buChar char="■"/>
              <a:defRPr/>
            </a:lvl3pPr>
            <a:lvl4pPr indent="-304800" lvl="3" marL="1828800">
              <a:spcBef>
                <a:spcPts val="0"/>
              </a:spcBef>
              <a:spcAft>
                <a:spcPts val="0"/>
              </a:spcAft>
              <a:buClr>
                <a:schemeClr val="lt1"/>
              </a:buClr>
              <a:buSzPts val="1200"/>
              <a:buFont typeface="Lato"/>
              <a:buChar char="●"/>
              <a:defRPr/>
            </a:lvl4pPr>
            <a:lvl5pPr indent="-304800" lvl="4" marL="2286000">
              <a:spcBef>
                <a:spcPts val="0"/>
              </a:spcBef>
              <a:spcAft>
                <a:spcPts val="0"/>
              </a:spcAft>
              <a:buClr>
                <a:schemeClr val="lt1"/>
              </a:buClr>
              <a:buSzPts val="1200"/>
              <a:buFont typeface="Lato"/>
              <a:buChar char="○"/>
              <a:defRPr/>
            </a:lvl5pPr>
            <a:lvl6pPr indent="-304800" lvl="5" marL="2743200">
              <a:spcBef>
                <a:spcPts val="0"/>
              </a:spcBef>
              <a:spcAft>
                <a:spcPts val="0"/>
              </a:spcAft>
              <a:buClr>
                <a:schemeClr val="lt1"/>
              </a:buClr>
              <a:buSzPts val="1200"/>
              <a:buFont typeface="Lato"/>
              <a:buChar char="■"/>
              <a:defRPr/>
            </a:lvl6pPr>
            <a:lvl7pPr indent="-304800" lvl="6" marL="3200400">
              <a:spcBef>
                <a:spcPts val="0"/>
              </a:spcBef>
              <a:spcAft>
                <a:spcPts val="0"/>
              </a:spcAft>
              <a:buClr>
                <a:schemeClr val="lt1"/>
              </a:buClr>
              <a:buSzPts val="1200"/>
              <a:buFont typeface="Lato"/>
              <a:buChar char="●"/>
              <a:defRPr/>
            </a:lvl7pPr>
            <a:lvl8pPr indent="-304800" lvl="7" marL="3657600">
              <a:spcBef>
                <a:spcPts val="0"/>
              </a:spcBef>
              <a:spcAft>
                <a:spcPts val="0"/>
              </a:spcAft>
              <a:buClr>
                <a:schemeClr val="lt1"/>
              </a:buClr>
              <a:buSzPts val="1200"/>
              <a:buFont typeface="Lato"/>
              <a:buChar char="○"/>
              <a:defRPr/>
            </a:lvl8pPr>
            <a:lvl9pPr indent="-304800" lvl="8" marL="4114800">
              <a:spcBef>
                <a:spcPts val="0"/>
              </a:spcBef>
              <a:spcAft>
                <a:spcPts val="0"/>
              </a:spcAft>
              <a:buClr>
                <a:schemeClr val="lt1"/>
              </a:buClr>
              <a:buSzPts val="1200"/>
              <a:buFont typeface="Lato"/>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image">
  <p:cSld name="BLANK_1_1_1_1_1_1_1_1_1_1_1_1_1_1_1_1_2">
    <p:spTree>
      <p:nvGrpSpPr>
        <p:cNvPr id="164" name="Shape 164"/>
        <p:cNvGrpSpPr/>
        <p:nvPr/>
      </p:nvGrpSpPr>
      <p:grpSpPr>
        <a:xfrm>
          <a:off x="0" y="0"/>
          <a:ext cx="0" cy="0"/>
          <a:chOff x="0" y="0"/>
          <a:chExt cx="0" cy="0"/>
        </a:xfrm>
      </p:grpSpPr>
      <p:sp>
        <p:nvSpPr>
          <p:cNvPr id="165" name="Google Shape;165;p24"/>
          <p:cNvSpPr/>
          <p:nvPr>
            <p:ph idx="2" type="pic"/>
          </p:nvPr>
        </p:nvSpPr>
        <p:spPr>
          <a:xfrm>
            <a:off x="6877724" y="0"/>
            <a:ext cx="2266200" cy="3405000"/>
          </a:xfrm>
          <a:prstGeom prst="rect">
            <a:avLst/>
          </a:prstGeom>
          <a:noFill/>
          <a:ln>
            <a:noFill/>
          </a:ln>
        </p:spPr>
      </p:sp>
      <p:sp>
        <p:nvSpPr>
          <p:cNvPr id="166" name="Google Shape;166;p24"/>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7" name="Google Shape;167;p24"/>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68" name="Google Shape;168;p24"/>
          <p:cNvSpPr txBox="1"/>
          <p:nvPr>
            <p:ph idx="12" type="sldNum"/>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
    <p:spTree>
      <p:nvGrpSpPr>
        <p:cNvPr id="169" name="Shape 169"/>
        <p:cNvGrpSpPr/>
        <p:nvPr/>
      </p:nvGrpSpPr>
      <p:grpSpPr>
        <a:xfrm>
          <a:off x="0" y="0"/>
          <a:ext cx="0" cy="0"/>
          <a:chOff x="0" y="0"/>
          <a:chExt cx="0" cy="0"/>
        </a:xfrm>
      </p:grpSpPr>
      <p:sp>
        <p:nvSpPr>
          <p:cNvPr id="170" name="Google Shape;170;p25"/>
          <p:cNvSpPr txBox="1"/>
          <p:nvPr>
            <p:ph idx="12" type="sldNum"/>
          </p:nvPr>
        </p:nvSpPr>
        <p:spPr>
          <a:xfrm>
            <a:off x="8556784" y="4749851"/>
            <a:ext cx="548700" cy="393600"/>
          </a:xfrm>
          <a:prstGeom prst="rect">
            <a:avLst/>
          </a:prstGeom>
          <a:noFill/>
          <a:ln>
            <a:noFill/>
          </a:ln>
        </p:spPr>
        <p:txBody>
          <a:bodyPr anchorCtr="0" anchor="ctr" bIns="91425" lIns="91425" spcFirstLastPara="1" rIns="91425" wrap="square" tIns="91425">
            <a:noAutofit/>
          </a:bodyPr>
          <a:lstStyle>
            <a:lvl1pPr lvl="0">
              <a:buNone/>
              <a:defRPr>
                <a:latin typeface="Lato"/>
                <a:ea typeface="Lato"/>
                <a:cs typeface="Lato"/>
                <a:sym typeface="Lato"/>
              </a:defRPr>
            </a:lvl1pPr>
            <a:lvl2pPr lvl="1">
              <a:buNone/>
              <a:defRPr>
                <a:latin typeface="Lato"/>
                <a:ea typeface="Lato"/>
                <a:cs typeface="Lato"/>
                <a:sym typeface="Lato"/>
              </a:defRPr>
            </a:lvl2pPr>
            <a:lvl3pPr lvl="2">
              <a:buNone/>
              <a:defRPr>
                <a:latin typeface="Lato"/>
                <a:ea typeface="Lato"/>
                <a:cs typeface="Lato"/>
                <a:sym typeface="Lato"/>
              </a:defRPr>
            </a:lvl3pPr>
            <a:lvl4pPr lvl="3">
              <a:buNone/>
              <a:defRPr>
                <a:latin typeface="Lato"/>
                <a:ea typeface="Lato"/>
                <a:cs typeface="Lato"/>
                <a:sym typeface="Lato"/>
              </a:defRPr>
            </a:lvl4pPr>
            <a:lvl5pPr lvl="4">
              <a:buNone/>
              <a:defRPr>
                <a:latin typeface="Lato"/>
                <a:ea typeface="Lato"/>
                <a:cs typeface="Lato"/>
                <a:sym typeface="Lato"/>
              </a:defRPr>
            </a:lvl5pPr>
            <a:lvl6pPr lvl="5">
              <a:buNone/>
              <a:defRPr>
                <a:latin typeface="Lato"/>
                <a:ea typeface="Lato"/>
                <a:cs typeface="Lato"/>
                <a:sym typeface="Lato"/>
              </a:defRPr>
            </a:lvl6pPr>
            <a:lvl7pPr lvl="6">
              <a:buNone/>
              <a:defRPr>
                <a:latin typeface="Lato"/>
                <a:ea typeface="Lato"/>
                <a:cs typeface="Lato"/>
                <a:sym typeface="Lato"/>
              </a:defRPr>
            </a:lvl7pPr>
            <a:lvl8pPr lvl="7">
              <a:buNone/>
              <a:defRPr>
                <a:latin typeface="Lato"/>
                <a:ea typeface="Lato"/>
                <a:cs typeface="Lato"/>
                <a:sym typeface="Lato"/>
              </a:defRPr>
            </a:lvl8pPr>
            <a:lvl9pPr lvl="8">
              <a:buNone/>
              <a:defRPr>
                <a:latin typeface="Lato"/>
                <a:ea typeface="Lato"/>
                <a:cs typeface="Lato"/>
                <a:sym typeface="Lato"/>
              </a:defRPr>
            </a:lvl9pPr>
          </a:lstStyle>
          <a:p>
            <a:pPr indent="0" lvl="0" marL="0" rtl="0" algn="l">
              <a:spcBef>
                <a:spcPts val="0"/>
              </a:spcBef>
              <a:spcAft>
                <a:spcPts val="0"/>
              </a:spcAft>
              <a:buNone/>
            </a:pPr>
            <a:fld id="{00000000-1234-1234-1234-123412341234}" type="slidenum">
              <a:rPr lang="en"/>
              <a:t>‹#›</a:t>
            </a:fld>
            <a:endParaRPr/>
          </a:p>
        </p:txBody>
      </p:sp>
      <p:sp>
        <p:nvSpPr>
          <p:cNvPr id="171" name="Google Shape;171;p25"/>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72" name="Google Shape;172;p25"/>
          <p:cNvSpPr txBox="1"/>
          <p:nvPr>
            <p:ph idx="1" type="subTitle"/>
          </p:nvPr>
        </p:nvSpPr>
        <p:spPr>
          <a:xfrm>
            <a:off x="1114250" y="18790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3" name="Google Shape;173;p25"/>
          <p:cNvSpPr txBox="1"/>
          <p:nvPr>
            <p:ph idx="2" type="subTitle"/>
          </p:nvPr>
        </p:nvSpPr>
        <p:spPr>
          <a:xfrm>
            <a:off x="2135350" y="18790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4" name="Google Shape;174;p25"/>
          <p:cNvSpPr txBox="1"/>
          <p:nvPr>
            <p:ph idx="3" type="subTitle"/>
          </p:nvPr>
        </p:nvSpPr>
        <p:spPr>
          <a:xfrm>
            <a:off x="5787475" y="19129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75" name="Google Shape;175;p25"/>
          <p:cNvSpPr txBox="1"/>
          <p:nvPr>
            <p:ph idx="4" type="subTitle"/>
          </p:nvPr>
        </p:nvSpPr>
        <p:spPr>
          <a:xfrm>
            <a:off x="1114250" y="28168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6" name="Google Shape;176;p25"/>
          <p:cNvSpPr txBox="1"/>
          <p:nvPr>
            <p:ph idx="5" type="subTitle"/>
          </p:nvPr>
        </p:nvSpPr>
        <p:spPr>
          <a:xfrm>
            <a:off x="2135350" y="28168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7" name="Google Shape;177;p25"/>
          <p:cNvSpPr txBox="1"/>
          <p:nvPr>
            <p:ph idx="6" type="subTitle"/>
          </p:nvPr>
        </p:nvSpPr>
        <p:spPr>
          <a:xfrm>
            <a:off x="5787475" y="28507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78" name="Google Shape;178;p25"/>
          <p:cNvSpPr txBox="1"/>
          <p:nvPr>
            <p:ph idx="7" type="subTitle"/>
          </p:nvPr>
        </p:nvSpPr>
        <p:spPr>
          <a:xfrm>
            <a:off x="1114250" y="37546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79" name="Google Shape;179;p25"/>
          <p:cNvSpPr txBox="1"/>
          <p:nvPr>
            <p:ph idx="8" type="subTitle"/>
          </p:nvPr>
        </p:nvSpPr>
        <p:spPr>
          <a:xfrm>
            <a:off x="2135350" y="37546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80" name="Google Shape;180;p25"/>
          <p:cNvSpPr txBox="1"/>
          <p:nvPr>
            <p:ph idx="9" type="subTitle"/>
          </p:nvPr>
        </p:nvSpPr>
        <p:spPr>
          <a:xfrm>
            <a:off x="5787475" y="37885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1">
  <p:cSld name="CUSTOM_1">
    <p:spTree>
      <p:nvGrpSpPr>
        <p:cNvPr id="181" name="Shape 181"/>
        <p:cNvGrpSpPr/>
        <p:nvPr/>
      </p:nvGrpSpPr>
      <p:grpSpPr>
        <a:xfrm>
          <a:off x="0" y="0"/>
          <a:ext cx="0" cy="0"/>
          <a:chOff x="0" y="0"/>
          <a:chExt cx="0" cy="0"/>
        </a:xfrm>
      </p:grpSpPr>
      <p:sp>
        <p:nvSpPr>
          <p:cNvPr id="182" name="Google Shape;182;p26"/>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83" name="Google Shape;183;p26"/>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84" name="Google Shape;184;p26"/>
          <p:cNvSpPr txBox="1"/>
          <p:nvPr>
            <p:ph idx="1" type="subTitle"/>
          </p:nvPr>
        </p:nvSpPr>
        <p:spPr>
          <a:xfrm>
            <a:off x="276075" y="1194000"/>
            <a:ext cx="19902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85" name="Google Shape;185;p26"/>
          <p:cNvSpPr txBox="1"/>
          <p:nvPr>
            <p:ph idx="2" type="subTitle"/>
          </p:nvPr>
        </p:nvSpPr>
        <p:spPr>
          <a:xfrm>
            <a:off x="3074775" y="1194000"/>
            <a:ext cx="4164900" cy="226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86" name="Google Shape;186;p26"/>
          <p:cNvSpPr txBox="1"/>
          <p:nvPr>
            <p:ph idx="3" type="body"/>
          </p:nvPr>
        </p:nvSpPr>
        <p:spPr>
          <a:xfrm>
            <a:off x="30747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87" name="Google Shape;187;p26"/>
          <p:cNvSpPr txBox="1"/>
          <p:nvPr>
            <p:ph idx="4" type="subTitle"/>
          </p:nvPr>
        </p:nvSpPr>
        <p:spPr>
          <a:xfrm>
            <a:off x="30747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88" name="Google Shape;188;p26"/>
          <p:cNvSpPr txBox="1"/>
          <p:nvPr>
            <p:ph idx="5" type="body"/>
          </p:nvPr>
        </p:nvSpPr>
        <p:spPr>
          <a:xfrm>
            <a:off x="48828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89" name="Google Shape;189;p26"/>
          <p:cNvSpPr txBox="1"/>
          <p:nvPr>
            <p:ph idx="6" type="subTitle"/>
          </p:nvPr>
        </p:nvSpPr>
        <p:spPr>
          <a:xfrm>
            <a:off x="48828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90" name="Google Shape;190;p26"/>
          <p:cNvSpPr txBox="1"/>
          <p:nvPr>
            <p:ph idx="7" type="body"/>
          </p:nvPr>
        </p:nvSpPr>
        <p:spPr>
          <a:xfrm>
            <a:off x="66909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91" name="Google Shape;191;p26"/>
          <p:cNvSpPr txBox="1"/>
          <p:nvPr>
            <p:ph idx="8" type="subTitle"/>
          </p:nvPr>
        </p:nvSpPr>
        <p:spPr>
          <a:xfrm>
            <a:off x="66909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92" name="Google Shape;192;p26"/>
          <p:cNvSpPr txBox="1"/>
          <p:nvPr>
            <p:ph idx="9"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93" name="Google Shape;193;p26"/>
          <p:cNvSpPr/>
          <p:nvPr>
            <p:ph idx="13" type="pic"/>
          </p:nvPr>
        </p:nvSpPr>
        <p:spPr>
          <a:xfrm>
            <a:off x="-74" y="3991500"/>
            <a:ext cx="2266200" cy="11520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2">
  <p:cSld name="CUSTOM_1_1">
    <p:spTree>
      <p:nvGrpSpPr>
        <p:cNvPr id="194" name="Shape 194"/>
        <p:cNvGrpSpPr/>
        <p:nvPr/>
      </p:nvGrpSpPr>
      <p:grpSpPr>
        <a:xfrm>
          <a:off x="0" y="0"/>
          <a:ext cx="0" cy="0"/>
          <a:chOff x="0" y="0"/>
          <a:chExt cx="0" cy="0"/>
        </a:xfrm>
      </p:grpSpPr>
      <p:sp>
        <p:nvSpPr>
          <p:cNvPr id="195" name="Google Shape;195;p27"/>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96" name="Google Shape;196;p27"/>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97" name="Google Shape;197;p27"/>
          <p:cNvSpPr txBox="1"/>
          <p:nvPr>
            <p:ph idx="1" type="subTitle"/>
          </p:nvPr>
        </p:nvSpPr>
        <p:spPr>
          <a:xfrm>
            <a:off x="276075" y="1194000"/>
            <a:ext cx="49926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98" name="Google Shape;198;p27"/>
          <p:cNvSpPr txBox="1"/>
          <p:nvPr>
            <p:ph idx="2"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99" name="Google Shape;199;p27"/>
          <p:cNvSpPr txBox="1"/>
          <p:nvPr>
            <p:ph idx="3"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200" name="Google Shape;200;p27"/>
          <p:cNvSpPr txBox="1"/>
          <p:nvPr>
            <p:ph idx="4" type="body"/>
          </p:nvPr>
        </p:nvSpPr>
        <p:spPr>
          <a:xfrm>
            <a:off x="2760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1" name="Google Shape;201;p27"/>
          <p:cNvSpPr txBox="1"/>
          <p:nvPr>
            <p:ph idx="5" type="subTitle"/>
          </p:nvPr>
        </p:nvSpPr>
        <p:spPr>
          <a:xfrm>
            <a:off x="2760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2" name="Google Shape;202;p27"/>
          <p:cNvSpPr txBox="1"/>
          <p:nvPr>
            <p:ph idx="6" type="body"/>
          </p:nvPr>
        </p:nvSpPr>
        <p:spPr>
          <a:xfrm>
            <a:off x="30747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3" name="Google Shape;203;p27"/>
          <p:cNvSpPr txBox="1"/>
          <p:nvPr>
            <p:ph idx="7" type="subTitle"/>
          </p:nvPr>
        </p:nvSpPr>
        <p:spPr>
          <a:xfrm>
            <a:off x="30747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4" name="Google Shape;204;p27"/>
          <p:cNvSpPr txBox="1"/>
          <p:nvPr>
            <p:ph idx="8" type="body"/>
          </p:nvPr>
        </p:nvSpPr>
        <p:spPr>
          <a:xfrm>
            <a:off x="58734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205" name="Google Shape;205;p27"/>
          <p:cNvSpPr txBox="1"/>
          <p:nvPr>
            <p:ph idx="9" type="subTitle"/>
          </p:nvPr>
        </p:nvSpPr>
        <p:spPr>
          <a:xfrm>
            <a:off x="58734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206" name="Google Shape;206;p27"/>
          <p:cNvSpPr/>
          <p:nvPr>
            <p:ph idx="13" type="pic"/>
          </p:nvPr>
        </p:nvSpPr>
        <p:spPr>
          <a:xfrm>
            <a:off x="276075" y="2076900"/>
            <a:ext cx="2463300" cy="1570200"/>
          </a:xfrm>
          <a:prstGeom prst="rect">
            <a:avLst/>
          </a:prstGeom>
          <a:noFill/>
          <a:ln>
            <a:noFill/>
          </a:ln>
        </p:spPr>
      </p:sp>
      <p:sp>
        <p:nvSpPr>
          <p:cNvPr id="207" name="Google Shape;207;p27"/>
          <p:cNvSpPr/>
          <p:nvPr>
            <p:ph idx="14" type="pic"/>
          </p:nvPr>
        </p:nvSpPr>
        <p:spPr>
          <a:xfrm>
            <a:off x="3074775" y="2076900"/>
            <a:ext cx="2463300" cy="1570200"/>
          </a:xfrm>
          <a:prstGeom prst="rect">
            <a:avLst/>
          </a:prstGeom>
          <a:noFill/>
          <a:ln>
            <a:noFill/>
          </a:ln>
        </p:spPr>
      </p:sp>
      <p:sp>
        <p:nvSpPr>
          <p:cNvPr id="208" name="Google Shape;208;p27"/>
          <p:cNvSpPr/>
          <p:nvPr>
            <p:ph idx="15" type="pic"/>
          </p:nvPr>
        </p:nvSpPr>
        <p:spPr>
          <a:xfrm>
            <a:off x="5873475" y="2073688"/>
            <a:ext cx="2463300" cy="15702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3">
  <p:cSld name="CUSTOM_1_1_1">
    <p:spTree>
      <p:nvGrpSpPr>
        <p:cNvPr id="209" name="Shape 209"/>
        <p:cNvGrpSpPr/>
        <p:nvPr/>
      </p:nvGrpSpPr>
      <p:grpSpPr>
        <a:xfrm>
          <a:off x="0" y="0"/>
          <a:ext cx="0" cy="0"/>
          <a:chOff x="0" y="0"/>
          <a:chExt cx="0" cy="0"/>
        </a:xfrm>
      </p:grpSpPr>
      <p:sp>
        <p:nvSpPr>
          <p:cNvPr id="210" name="Google Shape;210;p28"/>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211" name="Google Shape;211;p28"/>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212" name="Google Shape;212;p28"/>
          <p:cNvSpPr txBox="1"/>
          <p:nvPr>
            <p:ph idx="1"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213" name="Google Shape;213;p28"/>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14" name="Shape 214"/>
        <p:cNvGrpSpPr/>
        <p:nvPr/>
      </p:nvGrpSpPr>
      <p:grpSpPr>
        <a:xfrm>
          <a:off x="0" y="0"/>
          <a:ext cx="0" cy="0"/>
          <a:chOff x="0" y="0"/>
          <a:chExt cx="0" cy="0"/>
        </a:xfrm>
      </p:grpSpPr>
      <p:sp>
        <p:nvSpPr>
          <p:cNvPr id="215" name="Google Shape;215;p2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216" name="Google Shape;216;p29"/>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17" name="Shape 217"/>
        <p:cNvGrpSpPr/>
        <p:nvPr/>
      </p:nvGrpSpPr>
      <p:grpSpPr>
        <a:xfrm>
          <a:off x="0" y="0"/>
          <a:ext cx="0" cy="0"/>
          <a:chOff x="0" y="0"/>
          <a:chExt cx="0" cy="0"/>
        </a:xfrm>
      </p:grpSpPr>
      <p:sp>
        <p:nvSpPr>
          <p:cNvPr id="218" name="Google Shape;218;p3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19" name="Shape 219"/>
        <p:cNvGrpSpPr/>
        <p:nvPr/>
      </p:nvGrpSpPr>
      <p:grpSpPr>
        <a:xfrm>
          <a:off x="0" y="0"/>
          <a:ext cx="0" cy="0"/>
          <a:chOff x="0" y="0"/>
          <a:chExt cx="0" cy="0"/>
        </a:xfrm>
      </p:grpSpPr>
      <p:sp>
        <p:nvSpPr>
          <p:cNvPr id="220" name="Google Shape;220;p3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21" name="Google Shape;221;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22" name="Shape 222"/>
        <p:cNvGrpSpPr/>
        <p:nvPr/>
      </p:nvGrpSpPr>
      <p:grpSpPr>
        <a:xfrm>
          <a:off x="0" y="0"/>
          <a:ext cx="0" cy="0"/>
          <a:chOff x="0" y="0"/>
          <a:chExt cx="0" cy="0"/>
        </a:xfrm>
      </p:grpSpPr>
      <p:sp>
        <p:nvSpPr>
          <p:cNvPr id="223" name="Google Shape;223;p32"/>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24" name="Google Shape;224;p3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5" name="Google Shape;225;p3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26" name="Shape 226"/>
        <p:cNvGrpSpPr/>
        <p:nvPr/>
      </p:nvGrpSpPr>
      <p:grpSpPr>
        <a:xfrm>
          <a:off x="0" y="0"/>
          <a:ext cx="0" cy="0"/>
          <a:chOff x="0" y="0"/>
          <a:chExt cx="0" cy="0"/>
        </a:xfrm>
      </p:grpSpPr>
      <p:sp>
        <p:nvSpPr>
          <p:cNvPr id="227" name="Google Shape;227;p3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28" name="Shape 228"/>
        <p:cNvGrpSpPr/>
        <p:nvPr/>
      </p:nvGrpSpPr>
      <p:grpSpPr>
        <a:xfrm>
          <a:off x="0" y="0"/>
          <a:ext cx="0" cy="0"/>
          <a:chOff x="0" y="0"/>
          <a:chExt cx="0" cy="0"/>
        </a:xfrm>
      </p:grpSpPr>
      <p:sp>
        <p:nvSpPr>
          <p:cNvPr id="229" name="Google Shape;229;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230" name="Google Shape;230;p3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31" name="Shape 231"/>
        <p:cNvGrpSpPr/>
        <p:nvPr/>
      </p:nvGrpSpPr>
      <p:grpSpPr>
        <a:xfrm>
          <a:off x="0" y="0"/>
          <a:ext cx="0" cy="0"/>
          <a:chOff x="0" y="0"/>
          <a:chExt cx="0" cy="0"/>
        </a:xfrm>
      </p:grpSpPr>
      <p:sp>
        <p:nvSpPr>
          <p:cNvPr id="232" name="Google Shape;232;p3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33" name="Shape 233"/>
        <p:cNvGrpSpPr/>
        <p:nvPr/>
      </p:nvGrpSpPr>
      <p:grpSpPr>
        <a:xfrm>
          <a:off x="0" y="0"/>
          <a:ext cx="0" cy="0"/>
          <a:chOff x="0" y="0"/>
          <a:chExt cx="0" cy="0"/>
        </a:xfrm>
      </p:grpSpPr>
      <p:sp>
        <p:nvSpPr>
          <p:cNvPr id="234" name="Google Shape;234;p3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35" name="Google Shape;235;p36"/>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36" name="Google Shape;236;p3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37" name="Shape 237"/>
        <p:cNvGrpSpPr/>
        <p:nvPr/>
      </p:nvGrpSpPr>
      <p:grpSpPr>
        <a:xfrm>
          <a:off x="0" y="0"/>
          <a:ext cx="0" cy="0"/>
          <a:chOff x="0" y="0"/>
          <a:chExt cx="0" cy="0"/>
        </a:xfrm>
      </p:grpSpPr>
      <p:sp>
        <p:nvSpPr>
          <p:cNvPr id="238" name="Google Shape;238;p3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39" name="Shape 239"/>
        <p:cNvGrpSpPr/>
        <p:nvPr/>
      </p:nvGrpSpPr>
      <p:grpSpPr>
        <a:xfrm>
          <a:off x="0" y="0"/>
          <a:ext cx="0" cy="0"/>
          <a:chOff x="0" y="0"/>
          <a:chExt cx="0" cy="0"/>
        </a:xfrm>
      </p:grpSpPr>
      <p:sp>
        <p:nvSpPr>
          <p:cNvPr id="240" name="Google Shape;240;p3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41" name="Google Shape;241;p3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42" name="Shape 242"/>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43" name="Shape 243"/>
        <p:cNvGrpSpPr/>
        <p:nvPr/>
      </p:nvGrpSpPr>
      <p:grpSpPr>
        <a:xfrm>
          <a:off x="0" y="0"/>
          <a:ext cx="0" cy="0"/>
          <a:chOff x="0" y="0"/>
          <a:chExt cx="0" cy="0"/>
        </a:xfrm>
      </p:grpSpPr>
      <p:sp>
        <p:nvSpPr>
          <p:cNvPr id="244" name="Google Shape;244;p40"/>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40"/>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6" name="Google Shape;246;p40"/>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7" name="Google Shape;247;p40"/>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8" name="Google Shape;248;p40"/>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9" name="Google Shape;249;p40"/>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0" name="Google Shape;250;p40"/>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51" name="Shape 251"/>
        <p:cNvGrpSpPr/>
        <p:nvPr/>
      </p:nvGrpSpPr>
      <p:grpSpPr>
        <a:xfrm>
          <a:off x="0" y="0"/>
          <a:ext cx="0" cy="0"/>
          <a:chOff x="0" y="0"/>
          <a:chExt cx="0" cy="0"/>
        </a:xfrm>
      </p:grpSpPr>
      <p:sp>
        <p:nvSpPr>
          <p:cNvPr id="252" name="Google Shape;252;p4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3" name="Google Shape;253;p4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4" name="Google Shape;254;p4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55" name="Shape 255"/>
        <p:cNvGrpSpPr/>
        <p:nvPr/>
      </p:nvGrpSpPr>
      <p:grpSpPr>
        <a:xfrm>
          <a:off x="0" y="0"/>
          <a:ext cx="0" cy="0"/>
          <a:chOff x="0" y="0"/>
          <a:chExt cx="0" cy="0"/>
        </a:xfrm>
      </p:grpSpPr>
      <p:sp>
        <p:nvSpPr>
          <p:cNvPr id="256" name="Google Shape;256;p42"/>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57" name="Google Shape;257;p4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8" name="Google Shape;258;p4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9" name="Google Shape;259;p42"/>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0" name="Google Shape;260;p42"/>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61" name="Shape 261"/>
        <p:cNvGrpSpPr/>
        <p:nvPr/>
      </p:nvGrpSpPr>
      <p:grpSpPr>
        <a:xfrm>
          <a:off x="0" y="0"/>
          <a:ext cx="0" cy="0"/>
          <a:chOff x="0" y="0"/>
          <a:chExt cx="0" cy="0"/>
        </a:xfrm>
      </p:grpSpPr>
      <p:sp>
        <p:nvSpPr>
          <p:cNvPr id="262" name="Google Shape;262;p4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3" name="Google Shape;263;p4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4" name="Google Shape;264;p43"/>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65" name="Google Shape;265;p43"/>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6" name="Google Shape;266;p43"/>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7" name="Google Shape;267;p43"/>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68" name="Google Shape;268;p4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69" name="Shape 269"/>
        <p:cNvGrpSpPr/>
        <p:nvPr/>
      </p:nvGrpSpPr>
      <p:grpSpPr>
        <a:xfrm>
          <a:off x="0" y="0"/>
          <a:ext cx="0" cy="0"/>
          <a:chOff x="0" y="0"/>
          <a:chExt cx="0" cy="0"/>
        </a:xfrm>
      </p:grpSpPr>
      <p:sp>
        <p:nvSpPr>
          <p:cNvPr id="270" name="Google Shape;270;p4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1" name="Google Shape;271;p4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2" name="Google Shape;272;p4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3" name="Google Shape;273;p4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4" name="Google Shape;274;p44"/>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75" name="Google Shape;275;p44"/>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6" name="Google Shape;276;p44"/>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7" name="Google Shape;277;p44"/>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78" name="Google Shape;278;p44"/>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79" name="Shape 279"/>
        <p:cNvGrpSpPr/>
        <p:nvPr/>
      </p:nvGrpSpPr>
      <p:grpSpPr>
        <a:xfrm>
          <a:off x="0" y="0"/>
          <a:ext cx="0" cy="0"/>
          <a:chOff x="0" y="0"/>
          <a:chExt cx="0" cy="0"/>
        </a:xfrm>
      </p:grpSpPr>
      <p:sp>
        <p:nvSpPr>
          <p:cNvPr id="280" name="Google Shape;280;p4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1" name="Google Shape;281;p4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82" name="Shape 282"/>
        <p:cNvGrpSpPr/>
        <p:nvPr/>
      </p:nvGrpSpPr>
      <p:grpSpPr>
        <a:xfrm>
          <a:off x="0" y="0"/>
          <a:ext cx="0" cy="0"/>
          <a:chOff x="0" y="0"/>
          <a:chExt cx="0" cy="0"/>
        </a:xfrm>
      </p:grpSpPr>
      <p:sp>
        <p:nvSpPr>
          <p:cNvPr id="283" name="Google Shape;283;p4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4" name="Google Shape;284;p46"/>
          <p:cNvSpPr/>
          <p:nvPr>
            <p:ph idx="2" type="pic"/>
          </p:nvPr>
        </p:nvSpPr>
        <p:spPr>
          <a:xfrm>
            <a:off x="4804825" y="1133300"/>
            <a:ext cx="4027500" cy="2392800"/>
          </a:xfrm>
          <a:prstGeom prst="rect">
            <a:avLst/>
          </a:prstGeom>
          <a:noFill/>
          <a:ln>
            <a:noFill/>
          </a:ln>
        </p:spPr>
      </p:sp>
      <p:sp>
        <p:nvSpPr>
          <p:cNvPr id="285" name="Google Shape;285;p46"/>
          <p:cNvSpPr/>
          <p:nvPr>
            <p:ph idx="3" type="pic"/>
          </p:nvPr>
        </p:nvSpPr>
        <p:spPr>
          <a:xfrm>
            <a:off x="311725" y="1133300"/>
            <a:ext cx="4027500" cy="2392800"/>
          </a:xfrm>
          <a:prstGeom prst="rect">
            <a:avLst/>
          </a:prstGeom>
          <a:noFill/>
          <a:ln>
            <a:noFill/>
          </a:ln>
        </p:spPr>
      </p:sp>
      <p:sp>
        <p:nvSpPr>
          <p:cNvPr id="286" name="Google Shape;286;p4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87" name="Google Shape;287;p4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8" name="Google Shape;288;p46"/>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89" name="Google Shape;289;p46"/>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290" name="Shape 290"/>
        <p:cNvGrpSpPr/>
        <p:nvPr/>
      </p:nvGrpSpPr>
      <p:grpSpPr>
        <a:xfrm>
          <a:off x="0" y="0"/>
          <a:ext cx="0" cy="0"/>
          <a:chOff x="0" y="0"/>
          <a:chExt cx="0" cy="0"/>
        </a:xfrm>
      </p:grpSpPr>
      <p:sp>
        <p:nvSpPr>
          <p:cNvPr id="291" name="Google Shape;291;p4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2" name="Google Shape;292;p47"/>
          <p:cNvSpPr/>
          <p:nvPr>
            <p:ph idx="2" type="pic"/>
          </p:nvPr>
        </p:nvSpPr>
        <p:spPr>
          <a:xfrm>
            <a:off x="6205225" y="1128325"/>
            <a:ext cx="2627100" cy="2273100"/>
          </a:xfrm>
          <a:prstGeom prst="rect">
            <a:avLst/>
          </a:prstGeom>
          <a:noFill/>
          <a:ln>
            <a:noFill/>
          </a:ln>
        </p:spPr>
      </p:sp>
      <p:sp>
        <p:nvSpPr>
          <p:cNvPr id="293" name="Google Shape;293;p47"/>
          <p:cNvSpPr/>
          <p:nvPr>
            <p:ph idx="3" type="pic"/>
          </p:nvPr>
        </p:nvSpPr>
        <p:spPr>
          <a:xfrm>
            <a:off x="311725" y="1128325"/>
            <a:ext cx="2627100" cy="2273100"/>
          </a:xfrm>
          <a:prstGeom prst="rect">
            <a:avLst/>
          </a:prstGeom>
          <a:noFill/>
          <a:ln>
            <a:noFill/>
          </a:ln>
        </p:spPr>
      </p:sp>
      <p:sp>
        <p:nvSpPr>
          <p:cNvPr id="294" name="Google Shape;294;p4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5" name="Google Shape;295;p47"/>
          <p:cNvSpPr/>
          <p:nvPr>
            <p:ph idx="5" type="pic"/>
          </p:nvPr>
        </p:nvSpPr>
        <p:spPr>
          <a:xfrm>
            <a:off x="3255250" y="1128325"/>
            <a:ext cx="2627100" cy="2273100"/>
          </a:xfrm>
          <a:prstGeom prst="rect">
            <a:avLst/>
          </a:prstGeom>
          <a:noFill/>
          <a:ln>
            <a:noFill/>
          </a:ln>
        </p:spPr>
      </p:sp>
      <p:sp>
        <p:nvSpPr>
          <p:cNvPr id="296" name="Google Shape;296;p4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47"/>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98" name="Google Shape;298;p47"/>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99" name="Google Shape;299;p47"/>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0" name="Google Shape;300;p47"/>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01" name="Shape 301"/>
        <p:cNvGrpSpPr/>
        <p:nvPr/>
      </p:nvGrpSpPr>
      <p:grpSpPr>
        <a:xfrm>
          <a:off x="0" y="0"/>
          <a:ext cx="0" cy="0"/>
          <a:chOff x="0" y="0"/>
          <a:chExt cx="0" cy="0"/>
        </a:xfrm>
      </p:grpSpPr>
      <p:sp>
        <p:nvSpPr>
          <p:cNvPr id="302" name="Google Shape;302;p4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03" name="Shape 303"/>
        <p:cNvGrpSpPr/>
        <p:nvPr/>
      </p:nvGrpSpPr>
      <p:grpSpPr>
        <a:xfrm>
          <a:off x="0" y="0"/>
          <a:ext cx="0" cy="0"/>
          <a:chOff x="0" y="0"/>
          <a:chExt cx="0" cy="0"/>
        </a:xfrm>
      </p:grpSpPr>
      <p:sp>
        <p:nvSpPr>
          <p:cNvPr id="304" name="Google Shape;304;p49"/>
          <p:cNvSpPr/>
          <p:nvPr>
            <p:ph idx="2" type="pic"/>
          </p:nvPr>
        </p:nvSpPr>
        <p:spPr>
          <a:xfrm>
            <a:off x="3389600" y="118913"/>
            <a:ext cx="1643700" cy="1535100"/>
          </a:xfrm>
          <a:prstGeom prst="rect">
            <a:avLst/>
          </a:prstGeom>
          <a:noFill/>
          <a:ln>
            <a:noFill/>
          </a:ln>
        </p:spPr>
      </p:sp>
      <p:sp>
        <p:nvSpPr>
          <p:cNvPr id="305" name="Google Shape;305;p49"/>
          <p:cNvSpPr/>
          <p:nvPr>
            <p:ph idx="3" type="pic"/>
          </p:nvPr>
        </p:nvSpPr>
        <p:spPr>
          <a:xfrm>
            <a:off x="5195935" y="118913"/>
            <a:ext cx="1643700" cy="1535100"/>
          </a:xfrm>
          <a:prstGeom prst="rect">
            <a:avLst/>
          </a:prstGeom>
          <a:noFill/>
          <a:ln>
            <a:noFill/>
          </a:ln>
        </p:spPr>
      </p:sp>
      <p:sp>
        <p:nvSpPr>
          <p:cNvPr id="306" name="Google Shape;306;p49"/>
          <p:cNvSpPr/>
          <p:nvPr>
            <p:ph idx="4" type="pic"/>
          </p:nvPr>
        </p:nvSpPr>
        <p:spPr>
          <a:xfrm>
            <a:off x="7002270" y="118913"/>
            <a:ext cx="1643700" cy="1535100"/>
          </a:xfrm>
          <a:prstGeom prst="rect">
            <a:avLst/>
          </a:prstGeom>
          <a:noFill/>
          <a:ln>
            <a:noFill/>
          </a:ln>
        </p:spPr>
      </p:sp>
      <p:sp>
        <p:nvSpPr>
          <p:cNvPr id="307" name="Google Shape;307;p49"/>
          <p:cNvSpPr/>
          <p:nvPr>
            <p:ph idx="5" type="pic"/>
          </p:nvPr>
        </p:nvSpPr>
        <p:spPr>
          <a:xfrm>
            <a:off x="3389588" y="1804212"/>
            <a:ext cx="1643700" cy="1535100"/>
          </a:xfrm>
          <a:prstGeom prst="rect">
            <a:avLst/>
          </a:prstGeom>
          <a:noFill/>
          <a:ln>
            <a:noFill/>
          </a:ln>
        </p:spPr>
      </p:sp>
      <p:sp>
        <p:nvSpPr>
          <p:cNvPr id="308" name="Google Shape;308;p49"/>
          <p:cNvSpPr/>
          <p:nvPr>
            <p:ph idx="6" type="pic"/>
          </p:nvPr>
        </p:nvSpPr>
        <p:spPr>
          <a:xfrm>
            <a:off x="5195922" y="1804212"/>
            <a:ext cx="1643700" cy="1535100"/>
          </a:xfrm>
          <a:prstGeom prst="rect">
            <a:avLst/>
          </a:prstGeom>
          <a:noFill/>
          <a:ln>
            <a:noFill/>
          </a:ln>
        </p:spPr>
      </p:sp>
      <p:sp>
        <p:nvSpPr>
          <p:cNvPr id="309" name="Google Shape;309;p49"/>
          <p:cNvSpPr/>
          <p:nvPr>
            <p:ph idx="7" type="pic"/>
          </p:nvPr>
        </p:nvSpPr>
        <p:spPr>
          <a:xfrm>
            <a:off x="7002257" y="1804212"/>
            <a:ext cx="1643700" cy="1535100"/>
          </a:xfrm>
          <a:prstGeom prst="rect">
            <a:avLst/>
          </a:prstGeom>
          <a:noFill/>
          <a:ln>
            <a:noFill/>
          </a:ln>
        </p:spPr>
      </p:sp>
      <p:sp>
        <p:nvSpPr>
          <p:cNvPr id="310" name="Google Shape;310;p49"/>
          <p:cNvSpPr txBox="1"/>
          <p:nvPr>
            <p:ph type="title"/>
          </p:nvPr>
        </p:nvSpPr>
        <p:spPr>
          <a:xfrm>
            <a:off x="351550" y="445025"/>
            <a:ext cx="2596800" cy="17064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11" name="Google Shape;311;p49"/>
          <p:cNvSpPr/>
          <p:nvPr>
            <p:ph idx="8" type="pic"/>
          </p:nvPr>
        </p:nvSpPr>
        <p:spPr>
          <a:xfrm>
            <a:off x="3389588" y="3489487"/>
            <a:ext cx="1643700" cy="1535100"/>
          </a:xfrm>
          <a:prstGeom prst="rect">
            <a:avLst/>
          </a:prstGeom>
          <a:noFill/>
          <a:ln>
            <a:noFill/>
          </a:ln>
        </p:spPr>
      </p:sp>
      <p:sp>
        <p:nvSpPr>
          <p:cNvPr id="312" name="Google Shape;312;p49"/>
          <p:cNvSpPr/>
          <p:nvPr>
            <p:ph idx="9" type="pic"/>
          </p:nvPr>
        </p:nvSpPr>
        <p:spPr>
          <a:xfrm>
            <a:off x="5195922" y="3489487"/>
            <a:ext cx="1643700" cy="1535100"/>
          </a:xfrm>
          <a:prstGeom prst="rect">
            <a:avLst/>
          </a:prstGeom>
          <a:noFill/>
          <a:ln>
            <a:noFill/>
          </a:ln>
        </p:spPr>
      </p:sp>
      <p:sp>
        <p:nvSpPr>
          <p:cNvPr id="313" name="Google Shape;313;p4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theme" Target="../theme/theme3.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3950" y="3166425"/>
            <a:ext cx="6424800" cy="1517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1pPr>
            <a:lvl2pPr indent="-304800" lvl="1" marL="914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2pPr>
            <a:lvl3pPr indent="-304800" lvl="2" marL="1371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3pPr>
            <a:lvl4pPr indent="-304800" lvl="3" marL="1828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4pPr>
            <a:lvl5pPr indent="-304800" lvl="4" marL="22860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5pPr>
            <a:lvl6pPr indent="-304800" lvl="5" marL="2743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6pPr>
            <a:lvl7pPr indent="-304800" lvl="6" marL="3200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7pPr>
            <a:lvl8pPr indent="-304800" lvl="7" marL="3657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8pPr>
            <a:lvl9pPr indent="-304800" lvl="8" marL="4114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9pPr>
          </a:lstStyle>
          <a:p/>
        </p:txBody>
      </p:sp>
      <p:sp>
        <p:nvSpPr>
          <p:cNvPr id="52" name="Google Shape;52;p13"/>
          <p:cNvSpPr txBox="1"/>
          <p:nvPr>
            <p:ph type="title"/>
          </p:nvPr>
        </p:nvSpPr>
        <p:spPr>
          <a:xfrm>
            <a:off x="278750" y="513900"/>
            <a:ext cx="5802000" cy="11448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None/>
              <a:defRPr sz="6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guide id="21" pos="174">
          <p15:clr>
            <a:srgbClr val="E46962"/>
          </p15:clr>
        </p15:guide>
        <p15:guide id="22" pos="55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xml"/><Relationship Id="rId3"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 Id="rId3"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0"/>
          <p:cNvSpPr txBox="1"/>
          <p:nvPr/>
        </p:nvSpPr>
        <p:spPr>
          <a:xfrm>
            <a:off x="283961" y="4450025"/>
            <a:ext cx="2045700" cy="10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lt1"/>
                </a:solidFill>
                <a:latin typeface="Lato"/>
                <a:ea typeface="Lato"/>
                <a:cs typeface="Lato"/>
                <a:sym typeface="Lato"/>
              </a:rPr>
              <a:t>January 2026</a:t>
            </a:r>
            <a:endParaRPr sz="1000">
              <a:solidFill>
                <a:schemeClr val="lt1"/>
              </a:solidFill>
              <a:latin typeface="Lato"/>
              <a:ea typeface="Lato"/>
              <a:cs typeface="Lato"/>
              <a:sym typeface="Lato"/>
            </a:endParaRPr>
          </a:p>
        </p:txBody>
      </p:sp>
      <p:sp>
        <p:nvSpPr>
          <p:cNvPr id="319" name="Google Shape;319;p50"/>
          <p:cNvSpPr txBox="1"/>
          <p:nvPr/>
        </p:nvSpPr>
        <p:spPr>
          <a:xfrm>
            <a:off x="311550" y="3773996"/>
            <a:ext cx="6369600" cy="2364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rPr lang="en" sz="1000"/>
              <a:t>Fauzan Aryaputra, Paris Bozzuti, Ronaldo Tineo, Emma Smith, Aidan Balagtas</a:t>
            </a:r>
            <a:endParaRPr sz="1000"/>
          </a:p>
          <a:p>
            <a:pPr indent="0" lvl="0" marL="0" rtl="0" algn="l">
              <a:spcBef>
                <a:spcPts val="0"/>
              </a:spcBef>
              <a:spcAft>
                <a:spcPts val="0"/>
              </a:spcAft>
              <a:buNone/>
            </a:pPr>
            <a:r>
              <a:t/>
            </a:r>
            <a:endParaRPr sz="1000">
              <a:solidFill>
                <a:schemeClr val="lt1"/>
              </a:solidFill>
              <a:latin typeface="Lato"/>
              <a:ea typeface="Lato"/>
              <a:cs typeface="Lato"/>
              <a:sym typeface="Lato"/>
            </a:endParaRPr>
          </a:p>
        </p:txBody>
      </p:sp>
      <p:cxnSp>
        <p:nvCxnSpPr>
          <p:cNvPr id="320" name="Google Shape;320;p50"/>
          <p:cNvCxnSpPr/>
          <p:nvPr/>
        </p:nvCxnSpPr>
        <p:spPr>
          <a:xfrm rot="10800000">
            <a:off x="283800" y="3964378"/>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21" name="Google Shape;321;p50"/>
          <p:cNvCxnSpPr/>
          <p:nvPr/>
        </p:nvCxnSpPr>
        <p:spPr>
          <a:xfrm rot="10800000">
            <a:off x="283800" y="4324039"/>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22" name="Google Shape;322;p50"/>
          <p:cNvCxnSpPr/>
          <p:nvPr/>
        </p:nvCxnSpPr>
        <p:spPr>
          <a:xfrm rot="10800000">
            <a:off x="283800" y="4683725"/>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23" name="Google Shape;323;p50"/>
          <p:cNvCxnSpPr/>
          <p:nvPr/>
        </p:nvCxnSpPr>
        <p:spPr>
          <a:xfrm rot="10800000">
            <a:off x="750" y="361488"/>
            <a:ext cx="9102000" cy="0"/>
          </a:xfrm>
          <a:prstGeom prst="straightConnector1">
            <a:avLst/>
          </a:prstGeom>
          <a:noFill/>
          <a:ln cap="flat" cmpd="sng" w="9525">
            <a:solidFill>
              <a:schemeClr val="lt2"/>
            </a:solidFill>
            <a:prstDash val="solid"/>
            <a:round/>
            <a:headEnd len="med" w="med" type="none"/>
            <a:tailEnd len="med" w="med" type="none"/>
          </a:ln>
        </p:spPr>
      </p:cxnSp>
      <p:cxnSp>
        <p:nvCxnSpPr>
          <p:cNvPr id="324" name="Google Shape;324;p50"/>
          <p:cNvCxnSpPr/>
          <p:nvPr/>
        </p:nvCxnSpPr>
        <p:spPr>
          <a:xfrm rot="10800000">
            <a:off x="283800" y="3604625"/>
            <a:ext cx="6425100" cy="0"/>
          </a:xfrm>
          <a:prstGeom prst="straightConnector1">
            <a:avLst/>
          </a:prstGeom>
          <a:noFill/>
          <a:ln cap="flat" cmpd="sng" w="9525">
            <a:solidFill>
              <a:schemeClr val="lt2"/>
            </a:solidFill>
            <a:prstDash val="solid"/>
            <a:round/>
            <a:headEnd len="med" w="med" type="none"/>
            <a:tailEnd len="med" w="med" type="none"/>
          </a:ln>
        </p:spPr>
      </p:cxnSp>
      <p:pic>
        <p:nvPicPr>
          <p:cNvPr descr="An architectural detail of a modern building." id="325" name="Google Shape;325;p50"/>
          <p:cNvPicPr preferRelativeResize="0"/>
          <p:nvPr>
            <p:ph idx="2" type="pic"/>
          </p:nvPr>
        </p:nvPicPr>
        <p:blipFill rotWithShape="1">
          <a:blip r:embed="rId3">
            <a:alphaModFix/>
          </a:blip>
          <a:srcRect b="0" l="61984" r="8587" t="0"/>
          <a:stretch/>
        </p:blipFill>
        <p:spPr>
          <a:xfrm>
            <a:off x="6877050" y="0"/>
            <a:ext cx="2271002" cy="5143501"/>
          </a:xfrm>
          <a:prstGeom prst="rect">
            <a:avLst/>
          </a:prstGeom>
          <a:noFill/>
          <a:ln>
            <a:noFill/>
          </a:ln>
        </p:spPr>
      </p:pic>
      <p:sp>
        <p:nvSpPr>
          <p:cNvPr id="326" name="Google Shape;326;p50"/>
          <p:cNvSpPr txBox="1"/>
          <p:nvPr>
            <p:ph idx="4294967295" type="title"/>
          </p:nvPr>
        </p:nvSpPr>
        <p:spPr>
          <a:xfrm>
            <a:off x="278750" y="513900"/>
            <a:ext cx="5802000" cy="2355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Winter 390 Presentation 1:</a:t>
            </a:r>
            <a:br>
              <a:rPr lang="en"/>
            </a:br>
            <a:r>
              <a:rPr lang="en"/>
              <a:t>Team 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cxnSp>
        <p:nvCxnSpPr>
          <p:cNvPr id="331" name="Google Shape;331;p51"/>
          <p:cNvCxnSpPr/>
          <p:nvPr/>
        </p:nvCxnSpPr>
        <p:spPr>
          <a:xfrm rot="10800000">
            <a:off x="270887" y="1700775"/>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332" name="Google Shape;332;p51"/>
          <p:cNvCxnSpPr/>
          <p:nvPr/>
        </p:nvCxnSpPr>
        <p:spPr>
          <a:xfrm rot="10800000">
            <a:off x="270887" y="2638575"/>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333" name="Google Shape;333;p51"/>
          <p:cNvCxnSpPr/>
          <p:nvPr/>
        </p:nvCxnSpPr>
        <p:spPr>
          <a:xfrm rot="10800000">
            <a:off x="270887" y="3576375"/>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334" name="Google Shape;334;p51"/>
          <p:cNvCxnSpPr/>
          <p:nvPr/>
        </p:nvCxnSpPr>
        <p:spPr>
          <a:xfrm rot="10800000">
            <a:off x="4858665" y="1700775"/>
            <a:ext cx="4008300" cy="0"/>
          </a:xfrm>
          <a:prstGeom prst="straightConnector1">
            <a:avLst/>
          </a:prstGeom>
          <a:noFill/>
          <a:ln cap="flat" cmpd="sng" w="9525">
            <a:solidFill>
              <a:schemeClr val="lt2"/>
            </a:solidFill>
            <a:prstDash val="solid"/>
            <a:round/>
            <a:headEnd len="med" w="med" type="none"/>
            <a:tailEnd len="med" w="med" type="none"/>
          </a:ln>
        </p:spPr>
      </p:cxnSp>
      <p:cxnSp>
        <p:nvCxnSpPr>
          <p:cNvPr id="335" name="Google Shape;335;p51"/>
          <p:cNvCxnSpPr/>
          <p:nvPr/>
        </p:nvCxnSpPr>
        <p:spPr>
          <a:xfrm rot="10800000">
            <a:off x="4858220" y="2638575"/>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336" name="Google Shape;336;p51"/>
          <p:cNvCxnSpPr/>
          <p:nvPr/>
        </p:nvCxnSpPr>
        <p:spPr>
          <a:xfrm rot="10800000">
            <a:off x="4858220" y="3576375"/>
            <a:ext cx="4009200" cy="0"/>
          </a:xfrm>
          <a:prstGeom prst="straightConnector1">
            <a:avLst/>
          </a:prstGeom>
          <a:noFill/>
          <a:ln cap="flat" cmpd="sng" w="9525">
            <a:solidFill>
              <a:schemeClr val="lt2"/>
            </a:solidFill>
            <a:prstDash val="solid"/>
            <a:round/>
            <a:headEnd len="med" w="med" type="none"/>
            <a:tailEnd len="med" w="med" type="none"/>
          </a:ln>
        </p:spPr>
      </p:cxnSp>
      <p:sp>
        <p:nvSpPr>
          <p:cNvPr id="337" name="Google Shape;337;p51"/>
          <p:cNvSpPr txBox="1"/>
          <p:nvPr>
            <p:ph idx="7"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Contents</a:t>
            </a:r>
            <a:endParaRPr/>
          </a:p>
        </p:txBody>
      </p:sp>
      <p:sp>
        <p:nvSpPr>
          <p:cNvPr id="338" name="Google Shape;338;p51"/>
          <p:cNvSpPr txBox="1"/>
          <p:nvPr>
            <p:ph type="title"/>
          </p:nvPr>
        </p:nvSpPr>
        <p:spPr>
          <a:xfrm>
            <a:off x="270983" y="19850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Problem Statement</a:t>
            </a:r>
            <a:endParaRPr/>
          </a:p>
        </p:txBody>
      </p:sp>
      <p:sp>
        <p:nvSpPr>
          <p:cNvPr id="339" name="Google Shape;339;p51"/>
          <p:cNvSpPr txBox="1"/>
          <p:nvPr>
            <p:ph idx="2" type="title"/>
          </p:nvPr>
        </p:nvSpPr>
        <p:spPr>
          <a:xfrm>
            <a:off x="270983" y="29228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Background &amp; Current Method</a:t>
            </a:r>
            <a:endParaRPr/>
          </a:p>
        </p:txBody>
      </p:sp>
      <p:sp>
        <p:nvSpPr>
          <p:cNvPr id="340" name="Google Shape;340;p51"/>
          <p:cNvSpPr txBox="1"/>
          <p:nvPr>
            <p:ph idx="3" type="title"/>
          </p:nvPr>
        </p:nvSpPr>
        <p:spPr>
          <a:xfrm>
            <a:off x="270983" y="38606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Code Organization Overview</a:t>
            </a:r>
            <a:endParaRPr/>
          </a:p>
        </p:txBody>
      </p:sp>
      <p:sp>
        <p:nvSpPr>
          <p:cNvPr id="341" name="Google Shape;341;p51"/>
          <p:cNvSpPr txBox="1"/>
          <p:nvPr>
            <p:ph idx="4" type="title"/>
          </p:nvPr>
        </p:nvSpPr>
        <p:spPr>
          <a:xfrm>
            <a:off x="4858317" y="19850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Python Scripts</a:t>
            </a:r>
            <a:endParaRPr/>
          </a:p>
        </p:txBody>
      </p:sp>
      <p:sp>
        <p:nvSpPr>
          <p:cNvPr id="342" name="Google Shape;342;p51"/>
          <p:cNvSpPr txBox="1"/>
          <p:nvPr>
            <p:ph idx="5" type="title"/>
          </p:nvPr>
        </p:nvSpPr>
        <p:spPr>
          <a:xfrm>
            <a:off x="4858317" y="29228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Redundancies &amp; Limitations</a:t>
            </a:r>
            <a:endParaRPr/>
          </a:p>
        </p:txBody>
      </p:sp>
      <p:sp>
        <p:nvSpPr>
          <p:cNvPr id="343" name="Google Shape;343;p51"/>
          <p:cNvSpPr txBox="1"/>
          <p:nvPr>
            <p:ph idx="6" type="title"/>
          </p:nvPr>
        </p:nvSpPr>
        <p:spPr>
          <a:xfrm>
            <a:off x="4858317" y="38606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Moving Forward</a:t>
            </a:r>
            <a:endParaRPr/>
          </a:p>
        </p:txBody>
      </p:sp>
      <p:sp>
        <p:nvSpPr>
          <p:cNvPr id="344" name="Google Shape;344;p51"/>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45" name="Google Shape;345;p51"/>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01</a:t>
            </a:r>
            <a:endParaRPr/>
          </a:p>
        </p:txBody>
      </p:sp>
      <p:sp>
        <p:nvSpPr>
          <p:cNvPr id="346" name="Google Shape;346;p51"/>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04</a:t>
            </a:r>
            <a:endParaRPr/>
          </a:p>
        </p:txBody>
      </p:sp>
      <p:sp>
        <p:nvSpPr>
          <p:cNvPr id="347" name="Google Shape;347;p51"/>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02</a:t>
            </a:r>
            <a:endParaRPr/>
          </a:p>
        </p:txBody>
      </p:sp>
      <p:sp>
        <p:nvSpPr>
          <p:cNvPr id="348" name="Google Shape;348;p51"/>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03</a:t>
            </a:r>
            <a:endParaRPr/>
          </a:p>
        </p:txBody>
      </p:sp>
      <p:sp>
        <p:nvSpPr>
          <p:cNvPr id="349" name="Google Shape;349;p51"/>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05</a:t>
            </a:r>
            <a:endParaRPr/>
          </a:p>
        </p:txBody>
      </p:sp>
      <p:sp>
        <p:nvSpPr>
          <p:cNvPr id="350" name="Google Shape;350;p51"/>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2"/>
          <p:cNvSpPr txBox="1"/>
          <p:nvPr>
            <p:ph idx="5" type="body"/>
          </p:nvPr>
        </p:nvSpPr>
        <p:spPr>
          <a:xfrm>
            <a:off x="4796050" y="3252853"/>
            <a:ext cx="2026200" cy="8619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a:t>“D</a:t>
            </a:r>
            <a:r>
              <a:rPr lang="en"/>
              <a:t>evelop a machine learning model to accurately classify Conjunctival melanocytic intraepithelial lesions (C-MIL) as per the WHO 2022 classification system”</a:t>
            </a:r>
            <a:endParaRPr/>
          </a:p>
        </p:txBody>
      </p:sp>
      <p:sp>
        <p:nvSpPr>
          <p:cNvPr id="356" name="Google Shape;356;p52"/>
          <p:cNvSpPr txBox="1"/>
          <p:nvPr>
            <p:ph type="title"/>
          </p:nvPr>
        </p:nvSpPr>
        <p:spPr>
          <a:xfrm>
            <a:off x="276075" y="457200"/>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Problem Statement</a:t>
            </a:r>
            <a:endParaRPr/>
          </a:p>
        </p:txBody>
      </p:sp>
      <p:sp>
        <p:nvSpPr>
          <p:cNvPr id="357" name="Google Shape;357;p52"/>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58" name="Google Shape;358;p52"/>
          <p:cNvSpPr txBox="1"/>
          <p:nvPr>
            <p:ph idx="1" type="subTitle"/>
          </p:nvPr>
        </p:nvSpPr>
        <p:spPr>
          <a:xfrm>
            <a:off x="4796050" y="2927513"/>
            <a:ext cx="2026200" cy="31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Objective 1*</a:t>
            </a:r>
            <a:endParaRPr/>
          </a:p>
        </p:txBody>
      </p:sp>
      <p:sp>
        <p:nvSpPr>
          <p:cNvPr id="359" name="Google Shape;359;p52"/>
          <p:cNvSpPr txBox="1"/>
          <p:nvPr>
            <p:ph idx="3" type="subTitle"/>
          </p:nvPr>
        </p:nvSpPr>
        <p:spPr>
          <a:xfrm>
            <a:off x="6956728" y="2927513"/>
            <a:ext cx="2030100" cy="31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Objective 2*</a:t>
            </a:r>
            <a:endParaRPr/>
          </a:p>
        </p:txBody>
      </p:sp>
      <p:sp>
        <p:nvSpPr>
          <p:cNvPr id="360" name="Google Shape;360;p52"/>
          <p:cNvSpPr txBox="1"/>
          <p:nvPr>
            <p:ph idx="6" type="body"/>
          </p:nvPr>
        </p:nvSpPr>
        <p:spPr>
          <a:xfrm>
            <a:off x="6956730" y="3252853"/>
            <a:ext cx="2030100" cy="1038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a:t>
            </a:r>
            <a:r>
              <a:rPr lang="en"/>
              <a:t>rovide a reproducible, and accurate grading of C-MIL so that the most appropriate management plan for the patient can be developed”</a:t>
            </a:r>
            <a:endParaRPr/>
          </a:p>
          <a:p>
            <a:pPr indent="0" lvl="0" marL="0" rtl="0" algn="l">
              <a:spcBef>
                <a:spcPts val="0"/>
              </a:spcBef>
              <a:spcAft>
                <a:spcPts val="0"/>
              </a:spcAft>
              <a:buNone/>
            </a:pPr>
            <a:r>
              <a:t/>
            </a:r>
            <a:endParaRPr/>
          </a:p>
        </p:txBody>
      </p:sp>
      <p:cxnSp>
        <p:nvCxnSpPr>
          <p:cNvPr id="361" name="Google Shape;361;p52"/>
          <p:cNvCxnSpPr/>
          <p:nvPr/>
        </p:nvCxnSpPr>
        <p:spPr>
          <a:xfrm>
            <a:off x="4792200" y="2689238"/>
            <a:ext cx="4180200" cy="0"/>
          </a:xfrm>
          <a:prstGeom prst="straightConnector1">
            <a:avLst/>
          </a:prstGeom>
          <a:noFill/>
          <a:ln cap="flat" cmpd="sng" w="9525">
            <a:solidFill>
              <a:schemeClr val="lt2"/>
            </a:solidFill>
            <a:prstDash val="solid"/>
            <a:round/>
            <a:headEnd len="med" w="med" type="none"/>
            <a:tailEnd len="med" w="med" type="none"/>
          </a:ln>
        </p:spPr>
      </p:cxnSp>
      <p:sp>
        <p:nvSpPr>
          <p:cNvPr id="362" name="Google Shape;362;p52"/>
          <p:cNvSpPr txBox="1"/>
          <p:nvPr>
            <p:ph idx="1" type="subTitle"/>
          </p:nvPr>
        </p:nvSpPr>
        <p:spPr>
          <a:xfrm>
            <a:off x="297900" y="980375"/>
            <a:ext cx="5395800" cy="4602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500"/>
              <a:t>Train a machine learning model to identify cancerous eye tissue, Conjunctival melanocytic intraepithelial lesions (C-MIL)</a:t>
            </a:r>
            <a:endParaRPr sz="1500"/>
          </a:p>
        </p:txBody>
      </p:sp>
      <p:sp>
        <p:nvSpPr>
          <p:cNvPr id="363" name="Google Shape;363;p52"/>
          <p:cNvSpPr txBox="1"/>
          <p:nvPr>
            <p:ph idx="4294967295" type="body"/>
          </p:nvPr>
        </p:nvSpPr>
        <p:spPr>
          <a:xfrm>
            <a:off x="285300" y="1619950"/>
            <a:ext cx="4343700" cy="2901900"/>
          </a:xfrm>
          <a:prstGeom prst="rect">
            <a:avLst/>
          </a:prstGeom>
        </p:spPr>
        <p:txBody>
          <a:bodyPr anchorCtr="0" anchor="t" bIns="91425" lIns="91425" spcFirstLastPara="1" rIns="91425" wrap="square" tIns="91425">
            <a:noAutofit/>
          </a:bodyPr>
          <a:lstStyle/>
          <a:p>
            <a:pPr indent="-184150" lvl="0" marL="114300" marR="0" rtl="0" algn="l">
              <a:lnSpc>
                <a:spcPct val="115000"/>
              </a:lnSpc>
              <a:spcBef>
                <a:spcPts val="0"/>
              </a:spcBef>
              <a:spcAft>
                <a:spcPts val="0"/>
              </a:spcAft>
              <a:buSzPts val="1100"/>
              <a:buChar char="-"/>
            </a:pPr>
            <a:r>
              <a:rPr lang="en" sz="1100"/>
              <a:t>105 cases from 97 patients</a:t>
            </a:r>
            <a:endParaRPr sz="1100"/>
          </a:p>
          <a:p>
            <a:pPr indent="-184150" lvl="0" marL="114300" marR="0" rtl="0" algn="l">
              <a:lnSpc>
                <a:spcPct val="115000"/>
              </a:lnSpc>
              <a:spcBef>
                <a:spcPts val="0"/>
              </a:spcBef>
              <a:spcAft>
                <a:spcPts val="0"/>
              </a:spcAft>
              <a:buSzPts val="1100"/>
              <a:buChar char="-"/>
            </a:pPr>
            <a:r>
              <a:rPr lang="en" sz="1100"/>
              <a:t>Each case has 3 stains, each with its own strengths</a:t>
            </a:r>
            <a:endParaRPr sz="1100"/>
          </a:p>
          <a:p>
            <a:pPr indent="0" lvl="0" marL="0" marR="0" rtl="0" algn="l">
              <a:lnSpc>
                <a:spcPct val="115000"/>
              </a:lnSpc>
              <a:spcBef>
                <a:spcPts val="0"/>
              </a:spcBef>
              <a:spcAft>
                <a:spcPts val="0"/>
              </a:spcAft>
              <a:buNone/>
            </a:pPr>
            <a:r>
              <a:t/>
            </a:r>
            <a:endParaRPr sz="1100"/>
          </a:p>
          <a:p>
            <a:pPr indent="-184150" lvl="0" marL="114300" rtl="0" algn="l">
              <a:spcBef>
                <a:spcPts val="0"/>
              </a:spcBef>
              <a:spcAft>
                <a:spcPts val="0"/>
              </a:spcAft>
              <a:buSzPts val="1100"/>
              <a:buChar char="-"/>
            </a:pPr>
            <a:r>
              <a:rPr lang="en" sz="1100"/>
              <a:t>S</a:t>
            </a:r>
            <a:r>
              <a:rPr lang="en" sz="1100"/>
              <a:t>ubjectivity in human identification</a:t>
            </a:r>
            <a:endParaRPr sz="1100"/>
          </a:p>
          <a:p>
            <a:pPr indent="-184150" lvl="1" marL="342900" rtl="0" algn="l">
              <a:spcBef>
                <a:spcPts val="0"/>
              </a:spcBef>
              <a:spcAft>
                <a:spcPts val="0"/>
              </a:spcAft>
              <a:buSzPts val="1100"/>
              <a:buChar char="-"/>
            </a:pPr>
            <a:r>
              <a:rPr lang="en" sz="1100"/>
              <a:t>Only 39% of the responses were correct when 14 pathologists classified each of the 13 cases of Low-grade C-MIL</a:t>
            </a:r>
            <a:endParaRPr sz="1100"/>
          </a:p>
          <a:p>
            <a:pPr indent="0" lvl="0" marL="0" rtl="0" algn="l">
              <a:spcBef>
                <a:spcPts val="0"/>
              </a:spcBef>
              <a:spcAft>
                <a:spcPts val="0"/>
              </a:spcAft>
              <a:buNone/>
            </a:pPr>
            <a:r>
              <a:t/>
            </a:r>
            <a:endParaRPr sz="1100"/>
          </a:p>
          <a:p>
            <a:pPr indent="-184150" lvl="0" marL="114300" marR="0" rtl="0" algn="l">
              <a:lnSpc>
                <a:spcPct val="115000"/>
              </a:lnSpc>
              <a:spcBef>
                <a:spcPts val="0"/>
              </a:spcBef>
              <a:spcAft>
                <a:spcPts val="0"/>
              </a:spcAft>
              <a:buSzPts val="1100"/>
              <a:buChar char="-"/>
            </a:pPr>
            <a:r>
              <a:rPr lang="en" sz="1100"/>
              <a:t>Risks of incorrect classifications</a:t>
            </a:r>
            <a:endParaRPr sz="1100"/>
          </a:p>
          <a:p>
            <a:pPr indent="-184150" lvl="1" marL="342900" marR="0" rtl="0" algn="l">
              <a:lnSpc>
                <a:spcPct val="115000"/>
              </a:lnSpc>
              <a:spcBef>
                <a:spcPts val="0"/>
              </a:spcBef>
              <a:spcAft>
                <a:spcPts val="0"/>
              </a:spcAft>
              <a:buSzPts val="1100"/>
              <a:buChar char="-"/>
            </a:pPr>
            <a:r>
              <a:rPr lang="en" sz="1100"/>
              <a:t>FP: </a:t>
            </a:r>
            <a:r>
              <a:rPr lang="en" sz="1100"/>
              <a:t>Unnecessary</a:t>
            </a:r>
            <a:r>
              <a:rPr lang="en" sz="1100"/>
              <a:t> follow-up or treatment (pain and expensive)</a:t>
            </a:r>
            <a:endParaRPr sz="1100"/>
          </a:p>
          <a:p>
            <a:pPr indent="-184150" lvl="1" marL="342900" marR="0" rtl="0" algn="l">
              <a:lnSpc>
                <a:spcPct val="115000"/>
              </a:lnSpc>
              <a:spcBef>
                <a:spcPts val="0"/>
              </a:spcBef>
              <a:spcAft>
                <a:spcPts val="0"/>
              </a:spcAft>
              <a:buSzPts val="1100"/>
              <a:buChar char="-"/>
            </a:pPr>
            <a:r>
              <a:rPr lang="en" sz="1100"/>
              <a:t>FN: Missed opportunity for early intervention, thus worse outcomes</a:t>
            </a:r>
            <a:endParaRPr sz="1100"/>
          </a:p>
          <a:p>
            <a:pPr indent="0" lvl="0" marL="0" rtl="0" algn="l">
              <a:spcBef>
                <a:spcPts val="0"/>
              </a:spcBef>
              <a:spcAft>
                <a:spcPts val="0"/>
              </a:spcAft>
              <a:buNone/>
            </a:pPr>
            <a:r>
              <a:t/>
            </a:r>
            <a:endParaRPr sz="1100"/>
          </a:p>
        </p:txBody>
      </p:sp>
      <p:sp>
        <p:nvSpPr>
          <p:cNvPr id="364" name="Google Shape;364;p52"/>
          <p:cNvSpPr txBox="1"/>
          <p:nvPr>
            <p:ph idx="12" type="sldNum"/>
          </p:nvPr>
        </p:nvSpPr>
        <p:spPr>
          <a:xfrm>
            <a:off x="7374022" y="4213613"/>
            <a:ext cx="1612800" cy="18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*As laid out in the problem statement slides</a:t>
            </a:r>
            <a:endParaRPr/>
          </a:p>
        </p:txBody>
      </p:sp>
      <p:sp>
        <p:nvSpPr>
          <p:cNvPr id="365" name="Google Shape;365;p52"/>
          <p:cNvSpPr txBox="1"/>
          <p:nvPr/>
        </p:nvSpPr>
        <p:spPr>
          <a:xfrm>
            <a:off x="438750" y="3981125"/>
            <a:ext cx="41802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a:solidFill>
                  <a:schemeClr val="lt1"/>
                </a:solidFill>
                <a:latin typeface="Lato"/>
                <a:ea typeface="Lato"/>
                <a:cs typeface="Lato"/>
                <a:sym typeface="Lato"/>
              </a:rPr>
              <a:t>Machine Learning  can improve the accuracy of human classification by reducing subjectivity</a:t>
            </a:r>
            <a:endParaRPr/>
          </a:p>
        </p:txBody>
      </p:sp>
      <p:pic>
        <p:nvPicPr>
          <p:cNvPr id="366" name="Google Shape;366;p52"/>
          <p:cNvPicPr preferRelativeResize="0"/>
          <p:nvPr/>
        </p:nvPicPr>
        <p:blipFill>
          <a:blip r:embed="rId3">
            <a:alphaModFix/>
          </a:blip>
          <a:stretch>
            <a:fillRect/>
          </a:stretch>
        </p:blipFill>
        <p:spPr>
          <a:xfrm>
            <a:off x="6299849" y="228600"/>
            <a:ext cx="2686975" cy="17264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3"/>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72" name="Google Shape;372;p53"/>
          <p:cNvSpPr txBox="1"/>
          <p:nvPr>
            <p:ph type="title"/>
          </p:nvPr>
        </p:nvSpPr>
        <p:spPr>
          <a:xfrm>
            <a:off x="251100" y="376375"/>
            <a:ext cx="5807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Background &amp; Current Method</a:t>
            </a:r>
            <a:endParaRPr/>
          </a:p>
        </p:txBody>
      </p:sp>
      <p:sp>
        <p:nvSpPr>
          <p:cNvPr id="373" name="Google Shape;373;p53"/>
          <p:cNvSpPr txBox="1"/>
          <p:nvPr>
            <p:ph idx="3" type="subTitle"/>
          </p:nvPr>
        </p:nvSpPr>
        <p:spPr>
          <a:xfrm>
            <a:off x="4740850" y="1067945"/>
            <a:ext cx="4251600" cy="6849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None/>
            </a:pPr>
            <a:r>
              <a:rPr lang="en"/>
              <a:t>Fall 2025 Methodology Overview &amp; Results</a:t>
            </a:r>
            <a:endParaRPr/>
          </a:p>
        </p:txBody>
      </p:sp>
      <p:sp>
        <p:nvSpPr>
          <p:cNvPr id="374" name="Google Shape;374;p53"/>
          <p:cNvSpPr txBox="1"/>
          <p:nvPr>
            <p:ph idx="4" type="body"/>
          </p:nvPr>
        </p:nvSpPr>
        <p:spPr>
          <a:xfrm>
            <a:off x="4740850" y="1923338"/>
            <a:ext cx="4048500" cy="289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method outlined in the Fall 2025 cohort’s work covers training a 3 level hierarchical attention model, based off of a DenseNet121 model, pooling levels, and then the classifier at the end. The model training loop includes an Adam optimizer, cross-entropy loss, learning rate scheduling, and early stopping. Essentially, this combines the information from the three states to create the final prediction.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holes in the approach in terms of regularization, information overlap, and hyperparameter tuning.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sp>
        <p:nvSpPr>
          <p:cNvPr id="375" name="Google Shape;375;p53"/>
          <p:cNvSpPr txBox="1"/>
          <p:nvPr>
            <p:ph idx="3" type="subTitle"/>
          </p:nvPr>
        </p:nvSpPr>
        <p:spPr>
          <a:xfrm>
            <a:off x="171075" y="1067945"/>
            <a:ext cx="4251600" cy="684900"/>
          </a:xfrm>
          <a:prstGeom prst="rect">
            <a:avLst/>
          </a:prstGeom>
        </p:spPr>
        <p:txBody>
          <a:bodyPr anchorCtr="0" anchor="b" bIns="0" lIns="0" spcFirstLastPara="1" rIns="0" wrap="square" tIns="0">
            <a:noAutofit/>
          </a:bodyPr>
          <a:lstStyle/>
          <a:p>
            <a:pPr indent="0" lvl="0" marL="0" rtl="0" algn="l">
              <a:lnSpc>
                <a:spcPct val="115000"/>
              </a:lnSpc>
              <a:spcBef>
                <a:spcPts val="0"/>
              </a:spcBef>
              <a:spcAft>
                <a:spcPts val="0"/>
              </a:spcAft>
              <a:buNone/>
            </a:pPr>
            <a:r>
              <a:rPr lang="en"/>
              <a:t>Motivating Paper</a:t>
            </a:r>
            <a:endParaRPr/>
          </a:p>
        </p:txBody>
      </p:sp>
      <p:cxnSp>
        <p:nvCxnSpPr>
          <p:cNvPr id="376" name="Google Shape;376;p53"/>
          <p:cNvCxnSpPr/>
          <p:nvPr/>
        </p:nvCxnSpPr>
        <p:spPr>
          <a:xfrm>
            <a:off x="4762033" y="1810950"/>
            <a:ext cx="4048500" cy="0"/>
          </a:xfrm>
          <a:prstGeom prst="straightConnector1">
            <a:avLst/>
          </a:prstGeom>
          <a:noFill/>
          <a:ln cap="flat" cmpd="sng" w="19050">
            <a:solidFill>
              <a:schemeClr val="accent2"/>
            </a:solidFill>
            <a:prstDash val="solid"/>
            <a:round/>
            <a:headEnd len="med" w="med" type="none"/>
            <a:tailEnd len="med" w="med" type="none"/>
          </a:ln>
        </p:spPr>
      </p:cxnSp>
      <p:cxnSp>
        <p:nvCxnSpPr>
          <p:cNvPr id="377" name="Google Shape;377;p53"/>
          <p:cNvCxnSpPr/>
          <p:nvPr/>
        </p:nvCxnSpPr>
        <p:spPr>
          <a:xfrm>
            <a:off x="206925" y="1810950"/>
            <a:ext cx="4281600" cy="0"/>
          </a:xfrm>
          <a:prstGeom prst="straightConnector1">
            <a:avLst/>
          </a:prstGeom>
          <a:noFill/>
          <a:ln cap="flat" cmpd="sng" w="19050">
            <a:solidFill>
              <a:schemeClr val="accent2"/>
            </a:solidFill>
            <a:prstDash val="solid"/>
            <a:round/>
            <a:headEnd len="med" w="med" type="none"/>
            <a:tailEnd len="med" w="med" type="none"/>
          </a:ln>
        </p:spPr>
      </p:cxnSp>
      <p:sp>
        <p:nvSpPr>
          <p:cNvPr id="378" name="Google Shape;378;p53"/>
          <p:cNvSpPr txBox="1"/>
          <p:nvPr>
            <p:ph idx="4" type="body"/>
          </p:nvPr>
        </p:nvSpPr>
        <p:spPr>
          <a:xfrm>
            <a:off x="206925" y="1923338"/>
            <a:ext cx="4048500" cy="289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i="1" lang="en"/>
              <a:t>Synergistic H&amp;E and IHC image analysis by AI predicts cancer biomarkers and survival outcomes in colorectal and breast cancer</a:t>
            </a:r>
            <a:endParaRPr i="1"/>
          </a:p>
          <a:p>
            <a:pPr indent="0" lvl="0" marL="0" rtl="0" algn="l">
              <a:spcBef>
                <a:spcPts val="0"/>
              </a:spcBef>
              <a:spcAft>
                <a:spcPts val="0"/>
              </a:spcAft>
              <a:buNone/>
            </a:pPr>
            <a:r>
              <a:t/>
            </a:r>
            <a:endParaRPr/>
          </a:p>
          <a:p>
            <a:pPr indent="0" lvl="0" marL="0" rtl="0" algn="l">
              <a:spcBef>
                <a:spcPts val="0"/>
              </a:spcBef>
              <a:spcAft>
                <a:spcPts val="0"/>
              </a:spcAft>
              <a:buNone/>
            </a:pPr>
            <a:r>
              <a:rPr lang="en"/>
              <a:t>The motivating paper shows a transformer-based model that predicts the status of breast cancer by using biomarker evaluation. This model outperforms the current methods that are used to identify cancer patients who will respond to different treatments based on a clinical analysis of their cancer tissue. The model uses the images of the tumors to predict what biomarkers can be used to select </a:t>
            </a:r>
            <a:r>
              <a:rPr lang="en"/>
              <a:t>patients</a:t>
            </a:r>
            <a:r>
              <a:rPr lang="en"/>
              <a:t> for specific treatments. The model specifically predicts the status of biomarkers in the tissue.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sz="1000"/>
          </a:p>
          <a:p>
            <a:pPr indent="0" lvl="0" marL="0" rtl="0" algn="l">
              <a:spcBef>
                <a:spcPts val="0"/>
              </a:spcBef>
              <a:spcAft>
                <a:spcPts val="0"/>
              </a:spcAft>
              <a:buNone/>
            </a:pPr>
            <a:r>
              <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54"/>
          <p:cNvSpPr txBox="1"/>
          <p:nvPr>
            <p:ph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Code Organization Overview</a:t>
            </a:r>
            <a:endParaRPr/>
          </a:p>
        </p:txBody>
      </p:sp>
      <p:sp>
        <p:nvSpPr>
          <p:cNvPr id="384" name="Google Shape;384;p54"/>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pSp>
        <p:nvGrpSpPr>
          <p:cNvPr id="385" name="Google Shape;385;p54"/>
          <p:cNvGrpSpPr/>
          <p:nvPr/>
        </p:nvGrpSpPr>
        <p:grpSpPr>
          <a:xfrm>
            <a:off x="4413841" y="1839249"/>
            <a:ext cx="3694858" cy="716237"/>
            <a:chOff x="4413841" y="1839249"/>
            <a:chExt cx="3694858" cy="716237"/>
          </a:xfrm>
        </p:grpSpPr>
        <p:cxnSp>
          <p:nvCxnSpPr>
            <p:cNvPr id="386" name="Google Shape;386;p54"/>
            <p:cNvCxnSpPr>
              <a:stCxn id="387" idx="3"/>
            </p:cNvCxnSpPr>
            <p:nvPr/>
          </p:nvCxnSpPr>
          <p:spPr>
            <a:xfrm>
              <a:off x="4413841" y="1970174"/>
              <a:ext cx="982800" cy="300"/>
            </a:xfrm>
            <a:prstGeom prst="straightConnector1">
              <a:avLst/>
            </a:prstGeom>
            <a:noFill/>
            <a:ln cap="flat" cmpd="sng" w="9525">
              <a:solidFill>
                <a:schemeClr val="lt1"/>
              </a:solidFill>
              <a:prstDash val="solid"/>
              <a:round/>
              <a:headEnd len="med" w="med" type="none"/>
              <a:tailEnd len="med" w="med" type="none"/>
            </a:ln>
          </p:spPr>
        </p:cxnSp>
        <p:grpSp>
          <p:nvGrpSpPr>
            <p:cNvPr id="388" name="Google Shape;388;p54"/>
            <p:cNvGrpSpPr/>
            <p:nvPr/>
          </p:nvGrpSpPr>
          <p:grpSpPr>
            <a:xfrm>
              <a:off x="5556599" y="1839249"/>
              <a:ext cx="2552100" cy="716237"/>
              <a:chOff x="5556599" y="1839249"/>
              <a:chExt cx="2552100" cy="716237"/>
            </a:xfrm>
          </p:grpSpPr>
          <p:sp>
            <p:nvSpPr>
              <p:cNvPr id="389" name="Google Shape;389;p54"/>
              <p:cNvSpPr txBox="1"/>
              <p:nvPr/>
            </p:nvSpPr>
            <p:spPr>
              <a:xfrm>
                <a:off x="5556599" y="1839249"/>
                <a:ext cx="25521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Splitting &amp; Final Dataset</a:t>
                </a:r>
                <a:endParaRPr>
                  <a:solidFill>
                    <a:schemeClr val="lt1"/>
                  </a:solidFill>
                  <a:latin typeface="Playfair Display Medium"/>
                  <a:ea typeface="Playfair Display Medium"/>
                  <a:cs typeface="Playfair Display Medium"/>
                  <a:sym typeface="Playfair Display Medium"/>
                </a:endParaRPr>
              </a:p>
            </p:txBody>
          </p:sp>
          <p:sp>
            <p:nvSpPr>
              <p:cNvPr id="390" name="Google Shape;390;p54"/>
              <p:cNvSpPr txBox="1"/>
              <p:nvPr/>
            </p:nvSpPr>
            <p:spPr>
              <a:xfrm>
                <a:off x="5556600" y="2093786"/>
                <a:ext cx="17469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lt1"/>
                    </a:solidFill>
                    <a:latin typeface="Lato"/>
                    <a:ea typeface="Lato"/>
                    <a:cs typeface="Lato"/>
                    <a:sym typeface="Lato"/>
                  </a:rPr>
                  <a:t>Split data, transform patches, create PyTorch data  loaders</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(Dataset.py)</a:t>
                </a:r>
                <a:endParaRPr sz="1000">
                  <a:solidFill>
                    <a:schemeClr val="lt1"/>
                  </a:solidFill>
                  <a:latin typeface="Lato"/>
                  <a:ea typeface="Lato"/>
                  <a:cs typeface="Lato"/>
                  <a:sym typeface="Lato"/>
                </a:endParaRPr>
              </a:p>
            </p:txBody>
          </p:sp>
        </p:grpSp>
      </p:grpSp>
      <p:grpSp>
        <p:nvGrpSpPr>
          <p:cNvPr id="391" name="Google Shape;391;p54"/>
          <p:cNvGrpSpPr/>
          <p:nvPr/>
        </p:nvGrpSpPr>
        <p:grpSpPr>
          <a:xfrm>
            <a:off x="284988" y="1946849"/>
            <a:ext cx="8573888" cy="1904862"/>
            <a:chOff x="284988" y="1946849"/>
            <a:chExt cx="8573888" cy="1904862"/>
          </a:xfrm>
        </p:grpSpPr>
        <p:cxnSp>
          <p:nvCxnSpPr>
            <p:cNvPr id="392" name="Google Shape;392;p54"/>
            <p:cNvCxnSpPr/>
            <p:nvPr/>
          </p:nvCxnSpPr>
          <p:spPr>
            <a:xfrm flipH="1" rot="10800000">
              <a:off x="7651375" y="1946849"/>
              <a:ext cx="1207500" cy="1500"/>
            </a:xfrm>
            <a:prstGeom prst="straightConnector1">
              <a:avLst/>
            </a:prstGeom>
            <a:noFill/>
            <a:ln cap="flat" cmpd="sng" w="9525">
              <a:solidFill>
                <a:schemeClr val="lt1"/>
              </a:solidFill>
              <a:prstDash val="solid"/>
              <a:round/>
              <a:headEnd len="med" w="med" type="none"/>
              <a:tailEnd len="med" w="med" type="none"/>
            </a:ln>
          </p:spPr>
        </p:cxnSp>
        <p:sp>
          <p:nvSpPr>
            <p:cNvPr id="393" name="Google Shape;393;p54"/>
            <p:cNvSpPr txBox="1"/>
            <p:nvPr/>
          </p:nvSpPr>
          <p:spPr>
            <a:xfrm>
              <a:off x="284988" y="3032986"/>
              <a:ext cx="1527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Model Generation</a:t>
              </a:r>
              <a:endParaRPr>
                <a:solidFill>
                  <a:schemeClr val="lt1"/>
                </a:solidFill>
                <a:latin typeface="Playfair Display Medium"/>
                <a:ea typeface="Playfair Display Medium"/>
                <a:cs typeface="Playfair Display Medium"/>
                <a:sym typeface="Playfair Display Medium"/>
              </a:endParaRPr>
            </a:p>
          </p:txBody>
        </p:sp>
        <p:sp>
          <p:nvSpPr>
            <p:cNvPr id="394" name="Google Shape;394;p54"/>
            <p:cNvSpPr txBox="1"/>
            <p:nvPr/>
          </p:nvSpPr>
          <p:spPr>
            <a:xfrm>
              <a:off x="285000" y="3390011"/>
              <a:ext cx="16842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lt1"/>
                  </a:solidFill>
                  <a:latin typeface="Lato"/>
                  <a:ea typeface="Lato"/>
                  <a:cs typeface="Lato"/>
                  <a:sym typeface="Lato"/>
                </a:rPr>
                <a:t>Create MIL model using DenseNet121</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(Model.py)</a:t>
              </a:r>
              <a:endParaRPr sz="1000">
                <a:solidFill>
                  <a:schemeClr val="lt1"/>
                </a:solidFill>
                <a:latin typeface="Lato"/>
                <a:ea typeface="Lato"/>
                <a:cs typeface="Lato"/>
                <a:sym typeface="Lato"/>
              </a:endParaRPr>
            </a:p>
          </p:txBody>
        </p:sp>
      </p:grpSp>
      <p:grpSp>
        <p:nvGrpSpPr>
          <p:cNvPr id="395" name="Google Shape;395;p54"/>
          <p:cNvGrpSpPr/>
          <p:nvPr/>
        </p:nvGrpSpPr>
        <p:grpSpPr>
          <a:xfrm>
            <a:off x="1841234" y="3032986"/>
            <a:ext cx="2729016" cy="818725"/>
            <a:chOff x="1841234" y="3032986"/>
            <a:chExt cx="2729016" cy="818725"/>
          </a:xfrm>
        </p:grpSpPr>
        <p:cxnSp>
          <p:nvCxnSpPr>
            <p:cNvPr id="396" name="Google Shape;396;p54"/>
            <p:cNvCxnSpPr/>
            <p:nvPr/>
          </p:nvCxnSpPr>
          <p:spPr>
            <a:xfrm>
              <a:off x="1841234" y="3140686"/>
              <a:ext cx="993300" cy="0"/>
            </a:xfrm>
            <a:prstGeom prst="straightConnector1">
              <a:avLst/>
            </a:prstGeom>
            <a:noFill/>
            <a:ln cap="flat" cmpd="sng" w="9525">
              <a:solidFill>
                <a:schemeClr val="lt1"/>
              </a:solidFill>
              <a:prstDash val="solid"/>
              <a:round/>
              <a:headEnd len="med" w="med" type="none"/>
              <a:tailEnd len="med" w="med" type="none"/>
            </a:ln>
          </p:spPr>
        </p:cxnSp>
        <p:grpSp>
          <p:nvGrpSpPr>
            <p:cNvPr id="397" name="Google Shape;397;p54"/>
            <p:cNvGrpSpPr/>
            <p:nvPr/>
          </p:nvGrpSpPr>
          <p:grpSpPr>
            <a:xfrm>
              <a:off x="3004538" y="3032986"/>
              <a:ext cx="1565713" cy="818725"/>
              <a:chOff x="3004538" y="3032986"/>
              <a:chExt cx="1565713" cy="818725"/>
            </a:xfrm>
          </p:grpSpPr>
          <p:sp>
            <p:nvSpPr>
              <p:cNvPr id="398" name="Google Shape;398;p54"/>
              <p:cNvSpPr txBox="1"/>
              <p:nvPr/>
            </p:nvSpPr>
            <p:spPr>
              <a:xfrm>
                <a:off x="3004538" y="3032986"/>
                <a:ext cx="1527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Training</a:t>
                </a:r>
                <a:endParaRPr>
                  <a:solidFill>
                    <a:schemeClr val="lt1"/>
                  </a:solidFill>
                  <a:latin typeface="Playfair Display Medium"/>
                  <a:ea typeface="Playfair Display Medium"/>
                  <a:cs typeface="Playfair Display Medium"/>
                  <a:sym typeface="Playfair Display Medium"/>
                </a:endParaRPr>
              </a:p>
            </p:txBody>
          </p:sp>
          <p:sp>
            <p:nvSpPr>
              <p:cNvPr id="399" name="Google Shape;399;p54"/>
              <p:cNvSpPr txBox="1"/>
              <p:nvPr/>
            </p:nvSpPr>
            <p:spPr>
              <a:xfrm>
                <a:off x="3004550" y="3390011"/>
                <a:ext cx="15657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lt1"/>
                    </a:solidFill>
                    <a:latin typeface="Lato"/>
                    <a:ea typeface="Lato"/>
                    <a:cs typeface="Lato"/>
                    <a:sym typeface="Lato"/>
                  </a:rPr>
                  <a:t>Handle tuning and training checkpoints</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(Trainer.py)</a:t>
                </a:r>
                <a:endParaRPr sz="1000">
                  <a:solidFill>
                    <a:schemeClr val="lt1"/>
                  </a:solidFill>
                  <a:latin typeface="Lato"/>
                  <a:ea typeface="Lato"/>
                  <a:cs typeface="Lato"/>
                  <a:sym typeface="Lato"/>
                </a:endParaRPr>
              </a:p>
            </p:txBody>
          </p:sp>
        </p:grpSp>
      </p:grpSp>
      <p:grpSp>
        <p:nvGrpSpPr>
          <p:cNvPr id="400" name="Google Shape;400;p54"/>
          <p:cNvGrpSpPr/>
          <p:nvPr/>
        </p:nvGrpSpPr>
        <p:grpSpPr>
          <a:xfrm>
            <a:off x="3815288" y="2864524"/>
            <a:ext cx="5040613" cy="1202100"/>
            <a:chOff x="3815288" y="2864524"/>
            <a:chExt cx="5040613" cy="1202100"/>
          </a:xfrm>
        </p:grpSpPr>
        <p:sp>
          <p:nvSpPr>
            <p:cNvPr id="401" name="Google Shape;401;p54"/>
            <p:cNvSpPr/>
            <p:nvPr/>
          </p:nvSpPr>
          <p:spPr>
            <a:xfrm>
              <a:off x="5562200" y="2864524"/>
              <a:ext cx="3293700" cy="1202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grpSp>
          <p:nvGrpSpPr>
            <p:cNvPr id="402" name="Google Shape;402;p54"/>
            <p:cNvGrpSpPr/>
            <p:nvPr/>
          </p:nvGrpSpPr>
          <p:grpSpPr>
            <a:xfrm>
              <a:off x="3815288" y="3032986"/>
              <a:ext cx="4930713" cy="664813"/>
              <a:chOff x="3815288" y="3032986"/>
              <a:chExt cx="4930713" cy="664813"/>
            </a:xfrm>
          </p:grpSpPr>
          <p:cxnSp>
            <p:nvCxnSpPr>
              <p:cNvPr id="403" name="Google Shape;403;p54"/>
              <p:cNvCxnSpPr/>
              <p:nvPr/>
            </p:nvCxnSpPr>
            <p:spPr>
              <a:xfrm>
                <a:off x="3815288" y="3140699"/>
                <a:ext cx="1746900" cy="0"/>
              </a:xfrm>
              <a:prstGeom prst="straightConnector1">
                <a:avLst/>
              </a:prstGeom>
              <a:noFill/>
              <a:ln cap="flat" cmpd="sng" w="9525">
                <a:solidFill>
                  <a:schemeClr val="lt1"/>
                </a:solidFill>
                <a:prstDash val="solid"/>
                <a:round/>
                <a:headEnd len="med" w="med" type="none"/>
                <a:tailEnd len="med" w="med" type="none"/>
              </a:ln>
            </p:spPr>
          </p:cxnSp>
          <p:sp>
            <p:nvSpPr>
              <p:cNvPr id="404" name="Google Shape;404;p54"/>
              <p:cNvSpPr txBox="1"/>
              <p:nvPr/>
            </p:nvSpPr>
            <p:spPr>
              <a:xfrm>
                <a:off x="5724088" y="3032986"/>
                <a:ext cx="1527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Evaluation</a:t>
                </a:r>
                <a:endParaRPr>
                  <a:solidFill>
                    <a:schemeClr val="lt1"/>
                  </a:solidFill>
                  <a:latin typeface="Playfair Display Medium"/>
                  <a:ea typeface="Playfair Display Medium"/>
                  <a:cs typeface="Playfair Display Medium"/>
                  <a:sym typeface="Playfair Display Medium"/>
                </a:endParaRPr>
              </a:p>
            </p:txBody>
          </p:sp>
          <p:sp>
            <p:nvSpPr>
              <p:cNvPr id="405" name="Google Shape;405;p54"/>
              <p:cNvSpPr txBox="1"/>
              <p:nvPr/>
            </p:nvSpPr>
            <p:spPr>
              <a:xfrm>
                <a:off x="5724100" y="3389999"/>
                <a:ext cx="3021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lt1"/>
                    </a:solidFill>
                    <a:latin typeface="Lato"/>
                    <a:ea typeface="Lato"/>
                    <a:cs typeface="Lato"/>
                    <a:sym typeface="Lato"/>
                  </a:rPr>
                  <a:t>Visualize results</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(Trainer.py and visualization_predictions.ipynb)</a:t>
                </a:r>
                <a:endParaRPr sz="1000">
                  <a:solidFill>
                    <a:schemeClr val="lt1"/>
                  </a:solidFill>
                  <a:latin typeface="Lato"/>
                  <a:ea typeface="Lato"/>
                  <a:cs typeface="Lato"/>
                  <a:sym typeface="Lato"/>
                </a:endParaRPr>
              </a:p>
            </p:txBody>
          </p:sp>
        </p:grpSp>
      </p:grpSp>
      <p:cxnSp>
        <p:nvCxnSpPr>
          <p:cNvPr id="406" name="Google Shape;406;p54"/>
          <p:cNvCxnSpPr/>
          <p:nvPr/>
        </p:nvCxnSpPr>
        <p:spPr>
          <a:xfrm rot="10800000">
            <a:off x="285000" y="4066599"/>
            <a:ext cx="8574000" cy="0"/>
          </a:xfrm>
          <a:prstGeom prst="straightConnector1">
            <a:avLst/>
          </a:prstGeom>
          <a:noFill/>
          <a:ln cap="flat" cmpd="sng" w="9525">
            <a:solidFill>
              <a:schemeClr val="lt1"/>
            </a:solidFill>
            <a:prstDash val="solid"/>
            <a:round/>
            <a:headEnd len="med" w="med" type="none"/>
            <a:tailEnd len="med" w="med" type="none"/>
          </a:ln>
        </p:spPr>
      </p:cxnSp>
      <p:cxnSp>
        <p:nvCxnSpPr>
          <p:cNvPr id="407" name="Google Shape;407;p54"/>
          <p:cNvCxnSpPr/>
          <p:nvPr/>
        </p:nvCxnSpPr>
        <p:spPr>
          <a:xfrm rot="10800000">
            <a:off x="282975" y="2864524"/>
            <a:ext cx="8574000" cy="0"/>
          </a:xfrm>
          <a:prstGeom prst="straightConnector1">
            <a:avLst/>
          </a:prstGeom>
          <a:noFill/>
          <a:ln cap="flat" cmpd="sng" w="9525">
            <a:solidFill>
              <a:schemeClr val="lt1"/>
            </a:solidFill>
            <a:prstDash val="solid"/>
            <a:round/>
            <a:headEnd len="med" w="med" type="none"/>
            <a:tailEnd len="med" w="med" type="none"/>
          </a:ln>
        </p:spPr>
      </p:cxnSp>
      <p:cxnSp>
        <p:nvCxnSpPr>
          <p:cNvPr id="408" name="Google Shape;408;p54"/>
          <p:cNvCxnSpPr/>
          <p:nvPr/>
        </p:nvCxnSpPr>
        <p:spPr>
          <a:xfrm rot="10800000">
            <a:off x="281963" y="1662449"/>
            <a:ext cx="8574000" cy="0"/>
          </a:xfrm>
          <a:prstGeom prst="straightConnector1">
            <a:avLst/>
          </a:prstGeom>
          <a:noFill/>
          <a:ln cap="flat" cmpd="sng" w="9525">
            <a:solidFill>
              <a:schemeClr val="lt1"/>
            </a:solidFill>
            <a:prstDash val="solid"/>
            <a:round/>
            <a:headEnd len="med" w="med" type="none"/>
            <a:tailEnd len="med" w="med" type="none"/>
          </a:ln>
        </p:spPr>
      </p:cxnSp>
      <p:grpSp>
        <p:nvGrpSpPr>
          <p:cNvPr id="409" name="Google Shape;409;p54"/>
          <p:cNvGrpSpPr/>
          <p:nvPr/>
        </p:nvGrpSpPr>
        <p:grpSpPr>
          <a:xfrm>
            <a:off x="1507625" y="1862474"/>
            <a:ext cx="3161178" cy="769963"/>
            <a:chOff x="1507625" y="1862474"/>
            <a:chExt cx="3161178" cy="769963"/>
          </a:xfrm>
        </p:grpSpPr>
        <p:grpSp>
          <p:nvGrpSpPr>
            <p:cNvPr id="410" name="Google Shape;410;p54"/>
            <p:cNvGrpSpPr/>
            <p:nvPr/>
          </p:nvGrpSpPr>
          <p:grpSpPr>
            <a:xfrm>
              <a:off x="2867903" y="1862474"/>
              <a:ext cx="1800900" cy="769963"/>
              <a:chOff x="2867903" y="1862474"/>
              <a:chExt cx="1800900" cy="769963"/>
            </a:xfrm>
          </p:grpSpPr>
          <p:sp>
            <p:nvSpPr>
              <p:cNvPr id="387" name="Google Shape;387;p54"/>
              <p:cNvSpPr txBox="1"/>
              <p:nvPr/>
            </p:nvSpPr>
            <p:spPr>
              <a:xfrm>
                <a:off x="2886241" y="1862474"/>
                <a:ext cx="1527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Data Preparation</a:t>
                </a:r>
                <a:endParaRPr>
                  <a:solidFill>
                    <a:schemeClr val="lt1"/>
                  </a:solidFill>
                  <a:latin typeface="Playfair Display Medium"/>
                  <a:ea typeface="Playfair Display Medium"/>
                  <a:cs typeface="Playfair Display Medium"/>
                  <a:sym typeface="Playfair Display Medium"/>
                </a:endParaRPr>
              </a:p>
            </p:txBody>
          </p:sp>
          <p:sp>
            <p:nvSpPr>
              <p:cNvPr id="411" name="Google Shape;411;p54"/>
              <p:cNvSpPr txBox="1"/>
              <p:nvPr/>
            </p:nvSpPr>
            <p:spPr>
              <a:xfrm>
                <a:off x="2867903" y="2170736"/>
                <a:ext cx="1800900" cy="4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lt1"/>
                    </a:solidFill>
                    <a:latin typeface="Lato"/>
                    <a:ea typeface="Lato"/>
                    <a:cs typeface="Lato"/>
                    <a:sym typeface="Lato"/>
                  </a:rPr>
                  <a:t>Group patches by slice, map slices to class</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(Data_utils.py)</a:t>
                </a:r>
                <a:endParaRPr sz="1000">
                  <a:solidFill>
                    <a:schemeClr val="lt1"/>
                  </a:solidFill>
                  <a:latin typeface="Lato"/>
                  <a:ea typeface="Lato"/>
                  <a:cs typeface="Lato"/>
                  <a:sym typeface="Lato"/>
                </a:endParaRPr>
              </a:p>
            </p:txBody>
          </p:sp>
        </p:grpSp>
        <p:cxnSp>
          <p:nvCxnSpPr>
            <p:cNvPr id="412" name="Google Shape;412;p54"/>
            <p:cNvCxnSpPr/>
            <p:nvPr/>
          </p:nvCxnSpPr>
          <p:spPr>
            <a:xfrm>
              <a:off x="1507625" y="2003174"/>
              <a:ext cx="1082400" cy="3600"/>
            </a:xfrm>
            <a:prstGeom prst="straightConnector1">
              <a:avLst/>
            </a:prstGeom>
            <a:noFill/>
            <a:ln cap="flat" cmpd="sng" w="9525">
              <a:solidFill>
                <a:schemeClr val="lt1"/>
              </a:solidFill>
              <a:prstDash val="solid"/>
              <a:round/>
              <a:headEnd len="med" w="med" type="none"/>
              <a:tailEnd len="med" w="med" type="none"/>
            </a:ln>
          </p:spPr>
        </p:cxnSp>
      </p:grpSp>
      <p:grpSp>
        <p:nvGrpSpPr>
          <p:cNvPr id="413" name="Google Shape;413;p54"/>
          <p:cNvGrpSpPr/>
          <p:nvPr/>
        </p:nvGrpSpPr>
        <p:grpSpPr>
          <a:xfrm>
            <a:off x="284988" y="1886974"/>
            <a:ext cx="1802313" cy="648138"/>
            <a:chOff x="284988" y="1886974"/>
            <a:chExt cx="1802313" cy="648138"/>
          </a:xfrm>
        </p:grpSpPr>
        <p:sp>
          <p:nvSpPr>
            <p:cNvPr id="414" name="Google Shape;414;p54"/>
            <p:cNvSpPr txBox="1"/>
            <p:nvPr/>
          </p:nvSpPr>
          <p:spPr>
            <a:xfrm>
              <a:off x="284988" y="1886974"/>
              <a:ext cx="1527600" cy="21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a:solidFill>
                    <a:schemeClr val="lt1"/>
                  </a:solidFill>
                  <a:latin typeface="Playfair Display Medium"/>
                  <a:ea typeface="Playfair Display Medium"/>
                  <a:cs typeface="Playfair Display Medium"/>
                  <a:sym typeface="Playfair Display Medium"/>
                </a:rPr>
                <a:t>Data Loading</a:t>
              </a:r>
              <a:endParaRPr>
                <a:solidFill>
                  <a:schemeClr val="lt1"/>
                </a:solidFill>
                <a:latin typeface="Playfair Display Medium"/>
                <a:ea typeface="Playfair Display Medium"/>
                <a:cs typeface="Playfair Display Medium"/>
                <a:sym typeface="Playfair Display Medium"/>
              </a:endParaRPr>
            </a:p>
          </p:txBody>
        </p:sp>
        <p:sp>
          <p:nvSpPr>
            <p:cNvPr id="415" name="Google Shape;415;p54"/>
            <p:cNvSpPr txBox="1"/>
            <p:nvPr/>
          </p:nvSpPr>
          <p:spPr>
            <a:xfrm>
              <a:off x="286400" y="2227311"/>
              <a:ext cx="1800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000">
                  <a:solidFill>
                    <a:schemeClr val="lt1"/>
                  </a:solidFill>
                  <a:latin typeface="Lato"/>
                  <a:ea typeface="Lato"/>
                  <a:cs typeface="Lato"/>
                  <a:sym typeface="Lato"/>
                </a:rPr>
                <a:t>Load patches and labels</a:t>
              </a:r>
              <a:endParaRPr sz="1000">
                <a:solidFill>
                  <a:schemeClr val="lt1"/>
                </a:solidFill>
                <a:latin typeface="Lato"/>
                <a:ea typeface="Lato"/>
                <a:cs typeface="Lato"/>
                <a:sym typeface="Lato"/>
              </a:endParaRPr>
            </a:p>
            <a:p>
              <a:pPr indent="0" lvl="0" marL="0" rtl="0" algn="l">
                <a:spcBef>
                  <a:spcPts val="0"/>
                </a:spcBef>
                <a:spcAft>
                  <a:spcPts val="0"/>
                </a:spcAft>
                <a:buNone/>
              </a:pPr>
              <a:r>
                <a:rPr lang="en" sz="1000">
                  <a:solidFill>
                    <a:schemeClr val="lt1"/>
                  </a:solidFill>
                  <a:latin typeface="Lato"/>
                  <a:ea typeface="Lato"/>
                  <a:cs typeface="Lato"/>
                  <a:sym typeface="Lato"/>
                </a:rPr>
                <a:t>(Data_utils.py)</a:t>
              </a:r>
              <a:endParaRPr sz="1000">
                <a:solidFill>
                  <a:schemeClr val="lt1"/>
                </a:solidFill>
                <a:latin typeface="Lato"/>
                <a:ea typeface="Lato"/>
                <a:cs typeface="Lato"/>
                <a:sym typeface="Lat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5"/>
          <p:cNvSpPr txBox="1"/>
          <p:nvPr>
            <p:ph type="title"/>
          </p:nvPr>
        </p:nvSpPr>
        <p:spPr>
          <a:xfrm>
            <a:off x="276075" y="45720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Python Scripts</a:t>
            </a:r>
            <a:endParaRPr/>
          </a:p>
        </p:txBody>
      </p:sp>
      <p:sp>
        <p:nvSpPr>
          <p:cNvPr id="421" name="Google Shape;421;p55"/>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Objectives</a:t>
            </a:r>
            <a:endParaRPr sz="800">
              <a:solidFill>
                <a:schemeClr val="lt1"/>
              </a:solidFill>
              <a:latin typeface="Lato"/>
              <a:ea typeface="Lato"/>
              <a:cs typeface="Lato"/>
              <a:sym typeface="Lato"/>
            </a:endParaRPr>
          </a:p>
        </p:txBody>
      </p:sp>
      <p:cxnSp>
        <p:nvCxnSpPr>
          <p:cNvPr id="422" name="Google Shape;422;p55"/>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423" name="Google Shape;423;p55"/>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24" name="Google Shape;424;p55"/>
          <p:cNvSpPr txBox="1"/>
          <p:nvPr>
            <p:ph idx="15" type="subTitle"/>
          </p:nvPr>
        </p:nvSpPr>
        <p:spPr>
          <a:xfrm>
            <a:off x="2489263" y="1305196"/>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02</a:t>
            </a:r>
            <a:endParaRPr sz="1200">
              <a:latin typeface="Lato"/>
              <a:ea typeface="Lato"/>
              <a:cs typeface="Lato"/>
              <a:sym typeface="Lato"/>
            </a:endParaRPr>
          </a:p>
        </p:txBody>
      </p:sp>
      <p:sp>
        <p:nvSpPr>
          <p:cNvPr id="425" name="Google Shape;425;p55"/>
          <p:cNvSpPr txBox="1"/>
          <p:nvPr>
            <p:ph idx="14" type="subTitle"/>
          </p:nvPr>
        </p:nvSpPr>
        <p:spPr>
          <a:xfrm>
            <a:off x="278838" y="1305196"/>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01</a:t>
            </a:r>
            <a:endParaRPr sz="1200">
              <a:latin typeface="Lato"/>
              <a:ea typeface="Lato"/>
              <a:cs typeface="Lato"/>
              <a:sym typeface="Lato"/>
            </a:endParaRPr>
          </a:p>
        </p:txBody>
      </p:sp>
      <p:sp>
        <p:nvSpPr>
          <p:cNvPr id="426" name="Google Shape;426;p55"/>
          <p:cNvSpPr txBox="1"/>
          <p:nvPr>
            <p:ph idx="16" type="subTitle"/>
          </p:nvPr>
        </p:nvSpPr>
        <p:spPr>
          <a:xfrm>
            <a:off x="4699688" y="1305196"/>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03</a:t>
            </a:r>
            <a:endParaRPr sz="1200">
              <a:latin typeface="Lato"/>
              <a:ea typeface="Lato"/>
              <a:cs typeface="Lato"/>
              <a:sym typeface="Lato"/>
            </a:endParaRPr>
          </a:p>
        </p:txBody>
      </p:sp>
      <p:sp>
        <p:nvSpPr>
          <p:cNvPr id="427" name="Google Shape;427;p55"/>
          <p:cNvSpPr txBox="1"/>
          <p:nvPr>
            <p:ph idx="17" type="subTitle"/>
          </p:nvPr>
        </p:nvSpPr>
        <p:spPr>
          <a:xfrm>
            <a:off x="6910113" y="1305196"/>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04</a:t>
            </a:r>
            <a:endParaRPr sz="1200">
              <a:latin typeface="Lato"/>
              <a:ea typeface="Lato"/>
              <a:cs typeface="Lato"/>
              <a:sym typeface="Lato"/>
            </a:endParaRPr>
          </a:p>
        </p:txBody>
      </p:sp>
      <p:sp>
        <p:nvSpPr>
          <p:cNvPr id="428" name="Google Shape;428;p55"/>
          <p:cNvSpPr txBox="1"/>
          <p:nvPr>
            <p:ph idx="7" type="body"/>
          </p:nvPr>
        </p:nvSpPr>
        <p:spPr>
          <a:xfrm>
            <a:off x="274263" y="1838632"/>
            <a:ext cx="1970100" cy="1671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 Main orchestration script to coordinate MIL pipeline</a:t>
            </a:r>
            <a:endParaRPr sz="1200"/>
          </a:p>
          <a:p>
            <a:pPr indent="0" lvl="0" marL="0" rtl="0" algn="l">
              <a:spcBef>
                <a:spcPts val="0"/>
              </a:spcBef>
              <a:spcAft>
                <a:spcPts val="0"/>
              </a:spcAft>
              <a:buNone/>
            </a:pPr>
            <a:r>
              <a:rPr lang="en" sz="1200"/>
              <a:t>- Load data and split, create data loaders</a:t>
            </a:r>
            <a:endParaRPr sz="1200"/>
          </a:p>
          <a:p>
            <a:pPr indent="0" lvl="0" marL="0" rtl="0" algn="l">
              <a:spcBef>
                <a:spcPts val="0"/>
              </a:spcBef>
              <a:spcAft>
                <a:spcPts val="0"/>
              </a:spcAft>
              <a:buNone/>
            </a:pPr>
            <a:r>
              <a:rPr lang="en" sz="1200"/>
              <a:t>- Initialize model and run training </a:t>
            </a:r>
            <a:endParaRPr sz="1200"/>
          </a:p>
          <a:p>
            <a:pPr indent="0" lvl="0" marL="0" rtl="0" algn="l">
              <a:spcBef>
                <a:spcPts val="0"/>
              </a:spcBef>
              <a:spcAft>
                <a:spcPts val="0"/>
              </a:spcAft>
              <a:buNone/>
            </a:pPr>
            <a:r>
              <a:rPr lang="en" sz="1200"/>
              <a:t>- Evaluate on test set with optional attention analysis</a:t>
            </a:r>
            <a:endParaRPr sz="1200"/>
          </a:p>
        </p:txBody>
      </p:sp>
      <p:sp>
        <p:nvSpPr>
          <p:cNvPr id="429" name="Google Shape;429;p55"/>
          <p:cNvSpPr txBox="1"/>
          <p:nvPr>
            <p:ph idx="8" type="body"/>
          </p:nvPr>
        </p:nvSpPr>
        <p:spPr>
          <a:xfrm>
            <a:off x="2489252" y="1838632"/>
            <a:ext cx="1970100" cy="1884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 Central configuration file for defining hyperparameters, paths, and settings</a:t>
            </a:r>
            <a:endParaRPr sz="1200"/>
          </a:p>
          <a:p>
            <a:pPr indent="0" lvl="0" marL="0" rtl="0" algn="l">
              <a:spcBef>
                <a:spcPts val="0"/>
              </a:spcBef>
              <a:spcAft>
                <a:spcPts val="0"/>
              </a:spcAft>
              <a:buNone/>
            </a:pPr>
            <a:r>
              <a:rPr lang="en" sz="1200"/>
              <a:t>- Set data locations, model settings, training parameters, data splits, and preprocessing settings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
        <p:nvSpPr>
          <p:cNvPr id="430" name="Google Shape;430;p55"/>
          <p:cNvSpPr txBox="1"/>
          <p:nvPr>
            <p:ph idx="9" type="body"/>
          </p:nvPr>
        </p:nvSpPr>
        <p:spPr>
          <a:xfrm>
            <a:off x="4704242" y="1838632"/>
            <a:ext cx="1970100" cy="2096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 Script holding miscellaneous utility functions for setup, and data preprocessing</a:t>
            </a:r>
            <a:endParaRPr sz="1200"/>
          </a:p>
          <a:p>
            <a:pPr indent="0" lvl="0" marL="0" rtl="0" algn="l">
              <a:spcBef>
                <a:spcPts val="0"/>
              </a:spcBef>
              <a:spcAft>
                <a:spcPts val="0"/>
              </a:spcAft>
              <a:buNone/>
            </a:pPr>
            <a:r>
              <a:rPr lang="en" sz="1200"/>
              <a:t>- Set random seeds </a:t>
            </a:r>
            <a:endParaRPr sz="1200"/>
          </a:p>
          <a:p>
            <a:pPr indent="0" lvl="0" marL="0" rtl="0" algn="l">
              <a:spcBef>
                <a:spcPts val="0"/>
              </a:spcBef>
              <a:spcAft>
                <a:spcPts val="0"/>
              </a:spcAft>
              <a:buNone/>
            </a:pPr>
            <a:r>
              <a:rPr lang="en" sz="1200"/>
              <a:t>- Format data summaries</a:t>
            </a:r>
            <a:endParaRPr sz="1200"/>
          </a:p>
          <a:p>
            <a:pPr indent="0" lvl="0" marL="0" rtl="0" algn="l">
              <a:spcBef>
                <a:spcPts val="0"/>
              </a:spcBef>
              <a:spcAft>
                <a:spcPts val="0"/>
              </a:spcAft>
              <a:buNone/>
            </a:pPr>
            <a:r>
              <a:rPr lang="en" sz="1200"/>
              <a:t>- Create run directories, save/load data splits</a:t>
            </a:r>
            <a:endParaRPr sz="1200"/>
          </a:p>
          <a:p>
            <a:pPr indent="0" lvl="0" marL="0" rtl="0" algn="l">
              <a:spcBef>
                <a:spcPts val="0"/>
              </a:spcBef>
              <a:spcAft>
                <a:spcPts val="0"/>
              </a:spcAft>
              <a:buNone/>
            </a:pPr>
            <a:r>
              <a:rPr lang="en" sz="1200"/>
              <a:t>- Check data integrity and monitors memory usage</a:t>
            </a:r>
            <a:endParaRPr sz="1200"/>
          </a:p>
          <a:p>
            <a:pPr indent="0" lvl="0" marL="0" rtl="0" algn="l">
              <a:spcBef>
                <a:spcPts val="0"/>
              </a:spcBef>
              <a:spcAft>
                <a:spcPts val="0"/>
              </a:spcAft>
              <a:buNone/>
            </a:pPr>
            <a:r>
              <a:t/>
            </a:r>
            <a:endParaRPr sz="1200"/>
          </a:p>
        </p:txBody>
      </p:sp>
      <p:sp>
        <p:nvSpPr>
          <p:cNvPr id="431" name="Google Shape;431;p55"/>
          <p:cNvSpPr txBox="1"/>
          <p:nvPr>
            <p:ph idx="13" type="body"/>
          </p:nvPr>
        </p:nvSpPr>
        <p:spPr>
          <a:xfrm>
            <a:off x="6899648" y="1838632"/>
            <a:ext cx="1970100" cy="25212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 Data preprocessing utilities for MIL training</a:t>
            </a:r>
            <a:endParaRPr sz="1200"/>
          </a:p>
          <a:p>
            <a:pPr indent="0" lvl="0" marL="0" rtl="0" algn="l">
              <a:spcBef>
                <a:spcPts val="0"/>
              </a:spcBef>
              <a:spcAft>
                <a:spcPts val="0"/>
              </a:spcAft>
              <a:buNone/>
            </a:pPr>
            <a:r>
              <a:rPr lang="en" sz="1200"/>
              <a:t>- Load labels, find patch files, group patches by case, slice, and stain</a:t>
            </a:r>
            <a:endParaRPr sz="1200"/>
          </a:p>
          <a:p>
            <a:pPr indent="0" lvl="0" marL="0" rtl="0" algn="l">
              <a:spcBef>
                <a:spcPts val="0"/>
              </a:spcBef>
              <a:spcAft>
                <a:spcPts val="0"/>
              </a:spcAft>
              <a:buNone/>
            </a:pPr>
            <a:r>
              <a:rPr lang="en" sz="1200"/>
              <a:t>- Handle train/val/test splitting with stratification</a:t>
            </a:r>
            <a:endParaRPr sz="1200"/>
          </a:p>
          <a:p>
            <a:pPr indent="0" lvl="0" marL="0" rtl="0" algn="l">
              <a:spcBef>
                <a:spcPts val="0"/>
              </a:spcBef>
              <a:spcAft>
                <a:spcPts val="0"/>
              </a:spcAft>
              <a:buNone/>
            </a:pPr>
            <a:r>
              <a:rPr lang="en" sz="1200"/>
              <a:t>- Validate no data leakage</a:t>
            </a:r>
            <a:endParaRPr sz="1200"/>
          </a:p>
          <a:p>
            <a:pPr indent="0" lvl="0" marL="0" rtl="0" algn="l">
              <a:spcBef>
                <a:spcPts val="0"/>
              </a:spcBef>
              <a:spcAft>
                <a:spcPts val="0"/>
              </a:spcAft>
              <a:buNone/>
            </a:pPr>
            <a:r>
              <a:rPr lang="en" sz="1200"/>
              <a:t>- Generates summary statistics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sp>
        <p:nvSpPr>
          <p:cNvPr id="432" name="Google Shape;432;p55"/>
          <p:cNvSpPr txBox="1"/>
          <p:nvPr>
            <p:ph idx="3" type="subTitle"/>
          </p:nvPr>
        </p:nvSpPr>
        <p:spPr>
          <a:xfrm>
            <a:off x="278840" y="1536245"/>
            <a:ext cx="1970100" cy="246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t>main.py</a:t>
            </a:r>
            <a:endParaRPr sz="1600"/>
          </a:p>
        </p:txBody>
      </p:sp>
      <p:sp>
        <p:nvSpPr>
          <p:cNvPr id="433" name="Google Shape;433;p55"/>
          <p:cNvSpPr txBox="1"/>
          <p:nvPr>
            <p:ph idx="4" type="subTitle"/>
          </p:nvPr>
        </p:nvSpPr>
        <p:spPr>
          <a:xfrm>
            <a:off x="2489252" y="1536245"/>
            <a:ext cx="1970100" cy="246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t>config.py</a:t>
            </a:r>
            <a:endParaRPr sz="1600"/>
          </a:p>
        </p:txBody>
      </p:sp>
      <p:sp>
        <p:nvSpPr>
          <p:cNvPr id="434" name="Google Shape;434;p55"/>
          <p:cNvSpPr txBox="1"/>
          <p:nvPr>
            <p:ph idx="5" type="subTitle"/>
          </p:nvPr>
        </p:nvSpPr>
        <p:spPr>
          <a:xfrm>
            <a:off x="4694450" y="1536245"/>
            <a:ext cx="1970100" cy="246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t>utils.py</a:t>
            </a:r>
            <a:endParaRPr sz="1600"/>
          </a:p>
        </p:txBody>
      </p:sp>
      <p:sp>
        <p:nvSpPr>
          <p:cNvPr id="435" name="Google Shape;435;p55"/>
          <p:cNvSpPr txBox="1"/>
          <p:nvPr>
            <p:ph idx="6" type="subTitle"/>
          </p:nvPr>
        </p:nvSpPr>
        <p:spPr>
          <a:xfrm>
            <a:off x="6899648" y="1536245"/>
            <a:ext cx="1970100" cy="246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t>data_utils.py</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6"/>
          <p:cNvSpPr txBox="1"/>
          <p:nvPr>
            <p:ph type="title"/>
          </p:nvPr>
        </p:nvSpPr>
        <p:spPr>
          <a:xfrm>
            <a:off x="276075" y="45720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Python Scripts (Cont.)</a:t>
            </a:r>
            <a:endParaRPr/>
          </a:p>
        </p:txBody>
      </p:sp>
      <p:sp>
        <p:nvSpPr>
          <p:cNvPr id="441" name="Google Shape;441;p56"/>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Objectives</a:t>
            </a:r>
            <a:endParaRPr sz="800">
              <a:solidFill>
                <a:schemeClr val="lt1"/>
              </a:solidFill>
              <a:latin typeface="Lato"/>
              <a:ea typeface="Lato"/>
              <a:cs typeface="Lato"/>
              <a:sym typeface="Lato"/>
            </a:endParaRPr>
          </a:p>
        </p:txBody>
      </p:sp>
      <p:cxnSp>
        <p:nvCxnSpPr>
          <p:cNvPr id="442" name="Google Shape;442;p56"/>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443" name="Google Shape;443;p56"/>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44" name="Google Shape;444;p56"/>
          <p:cNvSpPr txBox="1"/>
          <p:nvPr>
            <p:ph idx="15" type="subTitle"/>
          </p:nvPr>
        </p:nvSpPr>
        <p:spPr>
          <a:xfrm>
            <a:off x="2535738" y="1411392"/>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06</a:t>
            </a:r>
            <a:endParaRPr sz="1200">
              <a:latin typeface="Lato"/>
              <a:ea typeface="Lato"/>
              <a:cs typeface="Lato"/>
              <a:sym typeface="Lato"/>
            </a:endParaRPr>
          </a:p>
        </p:txBody>
      </p:sp>
      <p:sp>
        <p:nvSpPr>
          <p:cNvPr id="445" name="Google Shape;445;p56"/>
          <p:cNvSpPr txBox="1"/>
          <p:nvPr>
            <p:ph idx="14" type="subTitle"/>
          </p:nvPr>
        </p:nvSpPr>
        <p:spPr>
          <a:xfrm>
            <a:off x="325313" y="1411392"/>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05</a:t>
            </a:r>
            <a:endParaRPr sz="1200">
              <a:latin typeface="Lato"/>
              <a:ea typeface="Lato"/>
              <a:cs typeface="Lato"/>
              <a:sym typeface="Lato"/>
            </a:endParaRPr>
          </a:p>
        </p:txBody>
      </p:sp>
      <p:sp>
        <p:nvSpPr>
          <p:cNvPr id="446" name="Google Shape;446;p56"/>
          <p:cNvSpPr txBox="1"/>
          <p:nvPr>
            <p:ph idx="16" type="subTitle"/>
          </p:nvPr>
        </p:nvSpPr>
        <p:spPr>
          <a:xfrm>
            <a:off x="4746163" y="1411392"/>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07</a:t>
            </a:r>
            <a:endParaRPr sz="1200">
              <a:latin typeface="Lato"/>
              <a:ea typeface="Lato"/>
              <a:cs typeface="Lato"/>
              <a:sym typeface="Lato"/>
            </a:endParaRPr>
          </a:p>
        </p:txBody>
      </p:sp>
      <p:sp>
        <p:nvSpPr>
          <p:cNvPr id="447" name="Google Shape;447;p56"/>
          <p:cNvSpPr txBox="1"/>
          <p:nvPr>
            <p:ph idx="7" type="body"/>
          </p:nvPr>
        </p:nvSpPr>
        <p:spPr>
          <a:xfrm>
            <a:off x="320738" y="1944828"/>
            <a:ext cx="1970100" cy="1671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 </a:t>
            </a:r>
            <a:r>
              <a:rPr lang="en" sz="1200"/>
              <a:t>Create a class for MIL training dataset</a:t>
            </a:r>
            <a:endParaRPr sz="1200"/>
          </a:p>
          <a:p>
            <a:pPr indent="0" lvl="0" marL="0" rtl="0" algn="l">
              <a:spcBef>
                <a:spcPts val="0"/>
              </a:spcBef>
              <a:spcAft>
                <a:spcPts val="0"/>
              </a:spcAft>
              <a:buNone/>
            </a:pPr>
            <a:r>
              <a:rPr lang="en" sz="1200"/>
              <a:t>- Each case ID has dict of stains, each stain mapped to list of patches</a:t>
            </a:r>
            <a:endParaRPr sz="1200"/>
          </a:p>
          <a:p>
            <a:pPr indent="0" lvl="0" marL="0" rtl="0" algn="l">
              <a:spcBef>
                <a:spcPts val="0"/>
              </a:spcBef>
              <a:spcAft>
                <a:spcPts val="0"/>
              </a:spcAft>
              <a:buNone/>
            </a:pPr>
            <a:r>
              <a:rPr lang="en" sz="1200"/>
              <a:t>- Includes helper functions for loading slices and transforming images</a:t>
            </a:r>
            <a:endParaRPr sz="1200"/>
          </a:p>
        </p:txBody>
      </p:sp>
      <p:sp>
        <p:nvSpPr>
          <p:cNvPr id="448" name="Google Shape;448;p56"/>
          <p:cNvSpPr txBox="1"/>
          <p:nvPr>
            <p:ph idx="8" type="body"/>
          </p:nvPr>
        </p:nvSpPr>
        <p:spPr>
          <a:xfrm>
            <a:off x="2535727" y="1944828"/>
            <a:ext cx="1970100" cy="2096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 </a:t>
            </a:r>
            <a:r>
              <a:rPr lang="en" sz="1200"/>
              <a:t>Utility functions for MIL attention handling and densenet121 model setup</a:t>
            </a:r>
            <a:endParaRPr sz="1200"/>
          </a:p>
          <a:p>
            <a:pPr indent="0" lvl="0" marL="0" rtl="0" algn="l">
              <a:spcBef>
                <a:spcPts val="0"/>
              </a:spcBef>
              <a:spcAft>
                <a:spcPts val="0"/>
              </a:spcAft>
              <a:buNone/>
            </a:pPr>
            <a:r>
              <a:rPr lang="en" sz="1200"/>
              <a:t>- Set up attention pooling mechanism and hierarchical attention handling</a:t>
            </a:r>
            <a:endParaRPr sz="1200"/>
          </a:p>
          <a:p>
            <a:pPr indent="0" lvl="0" marL="0" rtl="0" algn="l">
              <a:spcBef>
                <a:spcPts val="0"/>
              </a:spcBef>
              <a:spcAft>
                <a:spcPts val="0"/>
              </a:spcAft>
              <a:buNone/>
            </a:pPr>
            <a:r>
              <a:rPr lang="en" sz="1200"/>
              <a:t>- Stain processing and </a:t>
            </a:r>
            <a:r>
              <a:rPr lang="en" sz="1200"/>
              <a:t>attention</a:t>
            </a:r>
            <a:r>
              <a:rPr lang="en" sz="1200"/>
              <a:t> calculation</a:t>
            </a:r>
            <a:endParaRPr sz="1200"/>
          </a:p>
          <a:p>
            <a:pPr indent="0" lvl="0" marL="0" rtl="0" algn="l">
              <a:spcBef>
                <a:spcPts val="0"/>
              </a:spcBef>
              <a:spcAft>
                <a:spcPts val="0"/>
              </a:spcAft>
              <a:buNone/>
            </a:pPr>
            <a:r>
              <a:rPr lang="en" sz="1200"/>
              <a:t>- MIL model creation</a:t>
            </a:r>
            <a:endParaRPr sz="1200"/>
          </a:p>
          <a:p>
            <a:pPr indent="0" lvl="0" marL="0" rtl="0" algn="l">
              <a:spcBef>
                <a:spcPts val="0"/>
              </a:spcBef>
              <a:spcAft>
                <a:spcPts val="0"/>
              </a:spcAft>
              <a:buNone/>
            </a:pPr>
            <a:r>
              <a:t/>
            </a:r>
            <a:endParaRPr sz="1200"/>
          </a:p>
        </p:txBody>
      </p:sp>
      <p:sp>
        <p:nvSpPr>
          <p:cNvPr id="449" name="Google Shape;449;p56"/>
          <p:cNvSpPr txBox="1"/>
          <p:nvPr>
            <p:ph idx="9" type="body"/>
          </p:nvPr>
        </p:nvSpPr>
        <p:spPr>
          <a:xfrm>
            <a:off x="4750717" y="1944828"/>
            <a:ext cx="1970100" cy="2308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 Create class for handling both training and evaluation</a:t>
            </a:r>
            <a:endParaRPr sz="1200"/>
          </a:p>
          <a:p>
            <a:pPr indent="0" lvl="0" marL="0" rtl="0" algn="l">
              <a:spcBef>
                <a:spcPts val="0"/>
              </a:spcBef>
              <a:spcAft>
                <a:spcPts val="0"/>
              </a:spcAft>
              <a:buNone/>
            </a:pPr>
            <a:r>
              <a:rPr lang="en" sz="1200"/>
              <a:t>- Set up single-epoch training and full training loop</a:t>
            </a:r>
            <a:endParaRPr sz="1200"/>
          </a:p>
          <a:p>
            <a:pPr indent="0" lvl="0" marL="0" rtl="0" algn="l">
              <a:spcBef>
                <a:spcPts val="0"/>
              </a:spcBef>
              <a:spcAft>
                <a:spcPts val="0"/>
              </a:spcAft>
              <a:buNone/>
            </a:pPr>
            <a:r>
              <a:rPr lang="en" sz="1200"/>
              <a:t>- Validation by average loss and accuracy</a:t>
            </a:r>
            <a:endParaRPr sz="1200"/>
          </a:p>
          <a:p>
            <a:pPr indent="0" lvl="0" marL="0" rtl="0" algn="l">
              <a:spcBef>
                <a:spcPts val="0"/>
              </a:spcBef>
              <a:spcAft>
                <a:spcPts val="0"/>
              </a:spcAft>
              <a:buNone/>
            </a:pPr>
            <a:r>
              <a:rPr lang="en" sz="1200"/>
              <a:t>- Saving/loading checkpoints</a:t>
            </a:r>
            <a:endParaRPr sz="1200"/>
          </a:p>
          <a:p>
            <a:pPr indent="0" lvl="0" marL="0" rtl="0" algn="l">
              <a:spcBef>
                <a:spcPts val="0"/>
              </a:spcBef>
              <a:spcAft>
                <a:spcPts val="0"/>
              </a:spcAft>
              <a:buNone/>
            </a:pPr>
            <a:r>
              <a:rPr lang="en" sz="1200"/>
              <a:t>- Evaluation on test set with accuracy, save predictions and confusion matrix</a:t>
            </a:r>
            <a:endParaRPr sz="1200"/>
          </a:p>
          <a:p>
            <a:pPr indent="0" lvl="0" marL="0" rtl="0" algn="l">
              <a:spcBef>
                <a:spcPts val="0"/>
              </a:spcBef>
              <a:spcAft>
                <a:spcPts val="0"/>
              </a:spcAft>
              <a:buNone/>
            </a:pPr>
            <a:r>
              <a:t/>
            </a:r>
            <a:endParaRPr sz="1200"/>
          </a:p>
        </p:txBody>
      </p:sp>
      <p:sp>
        <p:nvSpPr>
          <p:cNvPr id="450" name="Google Shape;450;p56"/>
          <p:cNvSpPr txBox="1"/>
          <p:nvPr>
            <p:ph idx="3" type="subTitle"/>
          </p:nvPr>
        </p:nvSpPr>
        <p:spPr>
          <a:xfrm>
            <a:off x="325315" y="1642440"/>
            <a:ext cx="1970100" cy="246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t>dataset.py</a:t>
            </a:r>
            <a:endParaRPr sz="1600"/>
          </a:p>
        </p:txBody>
      </p:sp>
      <p:sp>
        <p:nvSpPr>
          <p:cNvPr id="451" name="Google Shape;451;p56"/>
          <p:cNvSpPr txBox="1"/>
          <p:nvPr>
            <p:ph idx="4" type="subTitle"/>
          </p:nvPr>
        </p:nvSpPr>
        <p:spPr>
          <a:xfrm>
            <a:off x="2535727" y="1642440"/>
            <a:ext cx="1970100" cy="246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t>model.py</a:t>
            </a:r>
            <a:endParaRPr sz="1600"/>
          </a:p>
        </p:txBody>
      </p:sp>
      <p:sp>
        <p:nvSpPr>
          <p:cNvPr id="452" name="Google Shape;452;p56"/>
          <p:cNvSpPr txBox="1"/>
          <p:nvPr>
            <p:ph idx="5" type="subTitle"/>
          </p:nvPr>
        </p:nvSpPr>
        <p:spPr>
          <a:xfrm>
            <a:off x="4740925" y="1642440"/>
            <a:ext cx="1970100" cy="246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t>trainer.py</a:t>
            </a:r>
            <a:endParaRPr sz="1600"/>
          </a:p>
        </p:txBody>
      </p:sp>
      <p:sp>
        <p:nvSpPr>
          <p:cNvPr id="453" name="Google Shape;453;p56"/>
          <p:cNvSpPr txBox="1"/>
          <p:nvPr>
            <p:ph idx="14" type="subTitle"/>
          </p:nvPr>
        </p:nvSpPr>
        <p:spPr>
          <a:xfrm>
            <a:off x="6853163" y="1411398"/>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sz="1200">
                <a:latin typeface="Lato"/>
                <a:ea typeface="Lato"/>
                <a:cs typeface="Lato"/>
                <a:sym typeface="Lato"/>
              </a:rPr>
              <a:t>08</a:t>
            </a:r>
            <a:endParaRPr sz="1200">
              <a:latin typeface="Lato"/>
              <a:ea typeface="Lato"/>
              <a:cs typeface="Lato"/>
              <a:sym typeface="Lato"/>
            </a:endParaRPr>
          </a:p>
        </p:txBody>
      </p:sp>
      <p:sp>
        <p:nvSpPr>
          <p:cNvPr id="454" name="Google Shape;454;p56"/>
          <p:cNvSpPr txBox="1"/>
          <p:nvPr>
            <p:ph idx="3" type="subTitle"/>
          </p:nvPr>
        </p:nvSpPr>
        <p:spPr>
          <a:xfrm>
            <a:off x="6853165" y="1642446"/>
            <a:ext cx="1970100" cy="2463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1600"/>
              <a:t>attention_analysis.py</a:t>
            </a:r>
            <a:endParaRPr sz="1600"/>
          </a:p>
        </p:txBody>
      </p:sp>
      <p:sp>
        <p:nvSpPr>
          <p:cNvPr id="455" name="Google Shape;455;p56"/>
          <p:cNvSpPr txBox="1"/>
          <p:nvPr>
            <p:ph idx="7" type="body"/>
          </p:nvPr>
        </p:nvSpPr>
        <p:spPr>
          <a:xfrm>
            <a:off x="6848588" y="1944834"/>
            <a:ext cx="1970100" cy="10344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200"/>
              <a:t>- Script for performing optional attention analysis</a:t>
            </a:r>
            <a:endParaRPr sz="1200"/>
          </a:p>
          <a:p>
            <a:pPr indent="0" lvl="0" marL="0" rtl="0" algn="l">
              <a:spcBef>
                <a:spcPts val="0"/>
              </a:spcBef>
              <a:spcAft>
                <a:spcPts val="0"/>
              </a:spcAft>
              <a:buNone/>
            </a:pPr>
            <a:r>
              <a:rPr lang="en" sz="1200"/>
              <a:t>- Analyze attention at case/stain/slice/patch level</a:t>
            </a:r>
            <a:endParaRPr sz="1200"/>
          </a:p>
          <a:p>
            <a:pPr indent="0" lvl="0" marL="0" rtl="0" algn="l">
              <a:spcBef>
                <a:spcPts val="0"/>
              </a:spcBef>
              <a:spcAft>
                <a:spcPts val="0"/>
              </a:spcAft>
              <a:buNone/>
            </a:pPr>
            <a:r>
              <a:rPr lang="en" sz="1200"/>
              <a:t>- Generate visualizations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7"/>
          <p:cNvSpPr txBox="1"/>
          <p:nvPr>
            <p:ph type="title"/>
          </p:nvPr>
        </p:nvSpPr>
        <p:spPr>
          <a:xfrm>
            <a:off x="276075" y="457200"/>
            <a:ext cx="81918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Redundancies in Code</a:t>
            </a:r>
            <a:endParaRPr/>
          </a:p>
        </p:txBody>
      </p:sp>
      <p:sp>
        <p:nvSpPr>
          <p:cNvPr id="461" name="Google Shape;461;p57"/>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Code Analysis</a:t>
            </a:r>
            <a:endParaRPr sz="800">
              <a:solidFill>
                <a:schemeClr val="lt1"/>
              </a:solidFill>
              <a:latin typeface="Lato"/>
              <a:ea typeface="Lato"/>
              <a:cs typeface="Lato"/>
              <a:sym typeface="Lato"/>
            </a:endParaRPr>
          </a:p>
        </p:txBody>
      </p:sp>
      <p:cxnSp>
        <p:nvCxnSpPr>
          <p:cNvPr id="462" name="Google Shape;462;p57"/>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463" name="Google Shape;463;p57"/>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64" name="Google Shape;464;p57"/>
          <p:cNvSpPr txBox="1"/>
          <p:nvPr/>
        </p:nvSpPr>
        <p:spPr>
          <a:xfrm>
            <a:off x="305700" y="1529425"/>
            <a:ext cx="6001800" cy="2602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In models.py, set base_model parameter to densenet121 in both initialization and create_model function (only need to do once)</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a:p>
            <a:pPr indent="-298450" lvl="0" marL="4572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In attention_analysis.py, the same denormalization method is applied 3 times, and it may be easier to use a helper function for this instead. </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a:p>
            <a:pPr indent="-298450" lvl="0" marL="457200" rtl="0" algn="l">
              <a:spcBef>
                <a:spcPts val="0"/>
              </a:spcBef>
              <a:spcAft>
                <a:spcPts val="0"/>
              </a:spcAft>
              <a:buClr>
                <a:schemeClr val="lt1"/>
              </a:buClr>
              <a:buSzPts val="1100"/>
              <a:buFont typeface="Lato"/>
              <a:buChar char="-"/>
            </a:pPr>
            <a:r>
              <a:rPr lang="en" sz="1100">
                <a:solidFill>
                  <a:schemeClr val="lt1"/>
                </a:solidFill>
                <a:latin typeface="Lato"/>
                <a:ea typeface="Lato"/>
                <a:cs typeface="Lato"/>
                <a:sym typeface="Lato"/>
              </a:rPr>
              <a:t>In trainer.py, dimension handling occurs 4 times without a helper function. </a:t>
            </a:r>
            <a:endParaRPr sz="1100">
              <a:solidFill>
                <a:schemeClr val="lt1"/>
              </a:solidFill>
              <a:latin typeface="Lato"/>
              <a:ea typeface="Lato"/>
              <a:cs typeface="Lato"/>
              <a:sym typeface="Lato"/>
            </a:endParaRPr>
          </a:p>
          <a:p>
            <a:pPr indent="0" lvl="0" marL="0" rtl="0" algn="l">
              <a:spcBef>
                <a:spcPts val="0"/>
              </a:spcBef>
              <a:spcAft>
                <a:spcPts val="0"/>
              </a:spcAft>
              <a:buNone/>
            </a:pPr>
            <a:r>
              <a:t/>
            </a:r>
            <a:endParaRPr sz="11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8"/>
          <p:cNvSpPr/>
          <p:nvPr/>
        </p:nvSpPr>
        <p:spPr>
          <a:xfrm>
            <a:off x="2323046" y="2274450"/>
            <a:ext cx="3349200" cy="1745100"/>
          </a:xfrm>
          <a:prstGeom prst="rightArrow">
            <a:avLst>
              <a:gd fmla="val 80525" name="adj1"/>
              <a:gd fmla="val 28272" name="adj2"/>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Playfair Display"/>
                <a:ea typeface="Playfair Display"/>
                <a:cs typeface="Playfair Display"/>
                <a:sym typeface="Playfair Display"/>
              </a:rPr>
              <a:t>    </a:t>
            </a:r>
            <a:r>
              <a:rPr lang="en" sz="3600">
                <a:solidFill>
                  <a:srgbClr val="666666"/>
                </a:solidFill>
                <a:latin typeface="Playfair Display"/>
                <a:ea typeface="Playfair Display"/>
                <a:cs typeface="Playfair Display"/>
                <a:sym typeface="Playfair Display"/>
              </a:rPr>
              <a:t>Motivation</a:t>
            </a:r>
            <a:endParaRPr sz="3600">
              <a:solidFill>
                <a:srgbClr val="666666"/>
              </a:solidFill>
              <a:latin typeface="Playfair Display"/>
              <a:ea typeface="Playfair Display"/>
              <a:cs typeface="Playfair Display"/>
              <a:sym typeface="Playfair Display"/>
            </a:endParaRPr>
          </a:p>
        </p:txBody>
      </p:sp>
      <p:sp>
        <p:nvSpPr>
          <p:cNvPr id="470" name="Google Shape;470;p58"/>
          <p:cNvSpPr txBox="1"/>
          <p:nvPr>
            <p:ph type="title"/>
          </p:nvPr>
        </p:nvSpPr>
        <p:spPr>
          <a:xfrm>
            <a:off x="276075" y="457200"/>
            <a:ext cx="61692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Problem Setup</a:t>
            </a:r>
            <a:endParaRPr/>
          </a:p>
        </p:txBody>
      </p:sp>
      <p:sp>
        <p:nvSpPr>
          <p:cNvPr id="471" name="Google Shape;471;p58"/>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Math</a:t>
            </a:r>
            <a:endParaRPr sz="800">
              <a:solidFill>
                <a:schemeClr val="lt1"/>
              </a:solidFill>
              <a:latin typeface="Lato"/>
              <a:ea typeface="Lato"/>
              <a:cs typeface="Lato"/>
              <a:sym typeface="Lato"/>
            </a:endParaRPr>
          </a:p>
        </p:txBody>
      </p:sp>
      <p:cxnSp>
        <p:nvCxnSpPr>
          <p:cNvPr id="472" name="Google Shape;472;p58"/>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473" name="Google Shape;473;p58"/>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74" name="Google Shape;474;p58"/>
          <p:cNvSpPr txBox="1"/>
          <p:nvPr/>
        </p:nvSpPr>
        <p:spPr>
          <a:xfrm>
            <a:off x="381750" y="894000"/>
            <a:ext cx="8380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a:latin typeface="Playfair Display"/>
                <a:ea typeface="Playfair Display"/>
                <a:cs typeface="Playfair Display"/>
                <a:sym typeface="Playfair Display"/>
              </a:rPr>
              <a:t>The model is trained under case-level supervision over 85 patients, while internally processing ~80k patches across three stains, motivating a hierarchical attention-based MIL architecture.</a:t>
            </a:r>
            <a:endParaRPr i="1" sz="1700">
              <a:latin typeface="Playfair Display"/>
              <a:ea typeface="Playfair Display"/>
              <a:cs typeface="Playfair Display"/>
              <a:sym typeface="Playfair Display"/>
            </a:endParaRPr>
          </a:p>
        </p:txBody>
      </p:sp>
      <p:sp>
        <p:nvSpPr>
          <p:cNvPr id="475" name="Google Shape;475;p58"/>
          <p:cNvSpPr/>
          <p:nvPr/>
        </p:nvSpPr>
        <p:spPr>
          <a:xfrm>
            <a:off x="1133328" y="2526614"/>
            <a:ext cx="1674600" cy="600000"/>
          </a:xfrm>
          <a:prstGeom prst="trapezoid">
            <a:avLst>
              <a:gd fmla="val 57486" name="adj"/>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Playfair Display"/>
                <a:ea typeface="Playfair Display"/>
                <a:cs typeface="Playfair Display"/>
                <a:sym typeface="Playfair Display"/>
              </a:rPr>
              <a:t>Stains</a:t>
            </a:r>
            <a:endParaRPr b="1">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lang="en" sz="800">
                <a:solidFill>
                  <a:schemeClr val="dk1"/>
                </a:solidFill>
                <a:latin typeface="Playfair Display"/>
                <a:ea typeface="Playfair Display"/>
                <a:cs typeface="Playfair Display"/>
                <a:sym typeface="Playfair Display"/>
              </a:rPr>
              <a:t>3 Stains per case: H&amp;E, Melan-A, Sox10</a:t>
            </a:r>
            <a:endParaRPr sz="800">
              <a:solidFill>
                <a:schemeClr val="dk1"/>
              </a:solidFill>
              <a:latin typeface="Playfair Display"/>
              <a:ea typeface="Playfair Display"/>
              <a:cs typeface="Playfair Display"/>
              <a:sym typeface="Playfair Display"/>
            </a:endParaRPr>
          </a:p>
        </p:txBody>
      </p:sp>
      <p:sp>
        <p:nvSpPr>
          <p:cNvPr id="476" name="Google Shape;476;p58"/>
          <p:cNvSpPr/>
          <p:nvPr/>
        </p:nvSpPr>
        <p:spPr>
          <a:xfrm>
            <a:off x="794524" y="3126613"/>
            <a:ext cx="2346900" cy="600000"/>
          </a:xfrm>
          <a:prstGeom prst="trapezoid">
            <a:avLst>
              <a:gd fmla="val 5663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Playfair Display"/>
                <a:ea typeface="Playfair Display"/>
                <a:cs typeface="Playfair Display"/>
                <a:sym typeface="Playfair Display"/>
              </a:rPr>
              <a:t>Slices </a:t>
            </a:r>
            <a:endParaRPr b="1">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lang="en" sz="900">
                <a:solidFill>
                  <a:schemeClr val="dk1"/>
                </a:solidFill>
                <a:latin typeface="Playfair Display"/>
                <a:ea typeface="Playfair Display"/>
                <a:cs typeface="Playfair Display"/>
                <a:sym typeface="Playfair Display"/>
              </a:rPr>
              <a:t>Multiple slices per stain: H&amp;E has 3, Melan-A has 2, Sox10 has 1</a:t>
            </a:r>
            <a:endParaRPr sz="900">
              <a:solidFill>
                <a:schemeClr val="dk1"/>
              </a:solidFill>
              <a:latin typeface="Playfair Display"/>
              <a:ea typeface="Playfair Display"/>
              <a:cs typeface="Playfair Display"/>
              <a:sym typeface="Playfair Display"/>
            </a:endParaRPr>
          </a:p>
        </p:txBody>
      </p:sp>
      <p:sp>
        <p:nvSpPr>
          <p:cNvPr id="477" name="Google Shape;477;p58"/>
          <p:cNvSpPr/>
          <p:nvPr/>
        </p:nvSpPr>
        <p:spPr>
          <a:xfrm>
            <a:off x="1475311" y="1917625"/>
            <a:ext cx="988200" cy="600000"/>
          </a:xfrm>
          <a:prstGeom prst="trapezoid">
            <a:avLst>
              <a:gd fmla="val 4534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Playfair Display"/>
                <a:ea typeface="Playfair Display"/>
                <a:cs typeface="Playfair Display"/>
                <a:sym typeface="Playfair Display"/>
              </a:rPr>
              <a:t>Case</a:t>
            </a:r>
            <a:endParaRPr b="1">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000">
              <a:solidFill>
                <a:schemeClr val="dk1"/>
              </a:solidFill>
              <a:latin typeface="Playfair Display"/>
              <a:ea typeface="Playfair Display"/>
              <a:cs typeface="Playfair Display"/>
              <a:sym typeface="Playfair Display"/>
            </a:endParaRPr>
          </a:p>
        </p:txBody>
      </p:sp>
      <p:sp>
        <p:nvSpPr>
          <p:cNvPr id="478" name="Google Shape;478;p58"/>
          <p:cNvSpPr txBox="1"/>
          <p:nvPr/>
        </p:nvSpPr>
        <p:spPr>
          <a:xfrm>
            <a:off x="1055821" y="1514113"/>
            <a:ext cx="18243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Lato"/>
                <a:ea typeface="Lato"/>
                <a:cs typeface="Lato"/>
                <a:sym typeface="Lato"/>
              </a:rPr>
              <a:t>Problem Structure</a:t>
            </a:r>
            <a:endParaRPr b="1" sz="1500">
              <a:solidFill>
                <a:schemeClr val="lt1"/>
              </a:solidFill>
              <a:latin typeface="Lato"/>
              <a:ea typeface="Lato"/>
              <a:cs typeface="Lato"/>
              <a:sym typeface="Lato"/>
            </a:endParaRPr>
          </a:p>
        </p:txBody>
      </p:sp>
      <p:sp>
        <p:nvSpPr>
          <p:cNvPr id="479" name="Google Shape;479;p58"/>
          <p:cNvSpPr/>
          <p:nvPr/>
        </p:nvSpPr>
        <p:spPr>
          <a:xfrm>
            <a:off x="461196" y="3726625"/>
            <a:ext cx="3016500" cy="600000"/>
          </a:xfrm>
          <a:prstGeom prst="trapezoid">
            <a:avLst>
              <a:gd fmla="val 55355"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Playfair Display"/>
                <a:ea typeface="Playfair Display"/>
                <a:cs typeface="Playfair Display"/>
                <a:sym typeface="Playfair Display"/>
              </a:rPr>
              <a:t>Patches</a:t>
            </a:r>
            <a:endParaRPr b="1">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lang="en" sz="1000">
                <a:solidFill>
                  <a:schemeClr val="dk1"/>
                </a:solidFill>
                <a:latin typeface="Playfair Display"/>
                <a:ea typeface="Playfair Display"/>
                <a:cs typeface="Playfair Display"/>
                <a:sym typeface="Playfair Display"/>
              </a:rPr>
              <a:t>Slices are divided into many patches</a:t>
            </a:r>
            <a:endParaRPr sz="1000">
              <a:solidFill>
                <a:schemeClr val="dk1"/>
              </a:solidFill>
              <a:latin typeface="Playfair Display"/>
              <a:ea typeface="Playfair Display"/>
              <a:cs typeface="Playfair Display"/>
              <a:sym typeface="Playfair Display"/>
            </a:endParaRPr>
          </a:p>
        </p:txBody>
      </p:sp>
      <p:sp>
        <p:nvSpPr>
          <p:cNvPr id="480" name="Google Shape;480;p58"/>
          <p:cNvSpPr txBox="1"/>
          <p:nvPr/>
        </p:nvSpPr>
        <p:spPr>
          <a:xfrm>
            <a:off x="5497963" y="1499425"/>
            <a:ext cx="3063300" cy="33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Lato"/>
                <a:ea typeface="Lato"/>
                <a:cs typeface="Lato"/>
                <a:sym typeface="Lato"/>
              </a:rPr>
              <a:t>Multiple Instance Learning (MIL)</a:t>
            </a:r>
            <a:endParaRPr b="1" sz="1500">
              <a:solidFill>
                <a:schemeClr val="lt1"/>
              </a:solidFill>
              <a:latin typeface="Lato"/>
              <a:ea typeface="Lato"/>
              <a:cs typeface="Lato"/>
              <a:sym typeface="Lato"/>
            </a:endParaRPr>
          </a:p>
        </p:txBody>
      </p:sp>
      <p:pic>
        <p:nvPicPr>
          <p:cNvPr id="481" name="Google Shape;481;p58"/>
          <p:cNvPicPr preferRelativeResize="0"/>
          <p:nvPr/>
        </p:nvPicPr>
        <p:blipFill>
          <a:blip r:embed="rId3">
            <a:alphaModFix/>
          </a:blip>
          <a:stretch>
            <a:fillRect/>
          </a:stretch>
        </p:blipFill>
        <p:spPr>
          <a:xfrm>
            <a:off x="5856148" y="2235825"/>
            <a:ext cx="2346900" cy="335929"/>
          </a:xfrm>
          <a:prstGeom prst="rect">
            <a:avLst/>
          </a:prstGeom>
          <a:noFill/>
          <a:ln>
            <a:noFill/>
          </a:ln>
        </p:spPr>
      </p:pic>
      <p:pic>
        <p:nvPicPr>
          <p:cNvPr id="482" name="Google Shape;482;p58"/>
          <p:cNvPicPr preferRelativeResize="0"/>
          <p:nvPr/>
        </p:nvPicPr>
        <p:blipFill>
          <a:blip r:embed="rId4">
            <a:alphaModFix/>
          </a:blip>
          <a:stretch>
            <a:fillRect/>
          </a:stretch>
        </p:blipFill>
        <p:spPr>
          <a:xfrm>
            <a:off x="6328041" y="2669411"/>
            <a:ext cx="1403125" cy="511260"/>
          </a:xfrm>
          <a:prstGeom prst="rect">
            <a:avLst/>
          </a:prstGeom>
          <a:noFill/>
          <a:ln>
            <a:noFill/>
          </a:ln>
        </p:spPr>
      </p:pic>
      <p:pic>
        <p:nvPicPr>
          <p:cNvPr id="483" name="Google Shape;483;p58"/>
          <p:cNvPicPr preferRelativeResize="0"/>
          <p:nvPr/>
        </p:nvPicPr>
        <p:blipFill>
          <a:blip r:embed="rId5">
            <a:alphaModFix/>
          </a:blip>
          <a:stretch>
            <a:fillRect/>
          </a:stretch>
        </p:blipFill>
        <p:spPr>
          <a:xfrm>
            <a:off x="5715148" y="3796164"/>
            <a:ext cx="2628900" cy="460911"/>
          </a:xfrm>
          <a:prstGeom prst="rect">
            <a:avLst/>
          </a:prstGeom>
          <a:noFill/>
          <a:ln>
            <a:noFill/>
          </a:ln>
        </p:spPr>
      </p:pic>
      <p:sp>
        <p:nvSpPr>
          <p:cNvPr id="484" name="Google Shape;484;p58"/>
          <p:cNvSpPr/>
          <p:nvPr/>
        </p:nvSpPr>
        <p:spPr>
          <a:xfrm>
            <a:off x="6502500" y="3180675"/>
            <a:ext cx="1054200" cy="615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Playfair Display"/>
                <a:ea typeface="Playfair Display"/>
                <a:cs typeface="Playfair Display"/>
                <a:sym typeface="Playfair Display"/>
              </a:rPr>
              <a:t>MIL</a:t>
            </a:r>
            <a:endParaRPr b="1">
              <a:solidFill>
                <a:schemeClr val="dk1"/>
              </a:solidFill>
              <a:latin typeface="Playfair Display"/>
              <a:ea typeface="Playfair Display"/>
              <a:cs typeface="Playfair Display"/>
              <a:sym typeface="Playfair Display"/>
            </a:endParaRPr>
          </a:p>
        </p:txBody>
      </p:sp>
      <p:sp>
        <p:nvSpPr>
          <p:cNvPr id="485" name="Google Shape;485;p58"/>
          <p:cNvSpPr txBox="1"/>
          <p:nvPr/>
        </p:nvSpPr>
        <p:spPr>
          <a:xfrm>
            <a:off x="5040300" y="4212574"/>
            <a:ext cx="39786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lt1"/>
                </a:solidFill>
                <a:latin typeface="Playfair Display"/>
                <a:ea typeface="Playfair Display"/>
                <a:cs typeface="Playfair Display"/>
                <a:sym typeface="Playfair Display"/>
              </a:rPr>
              <a:t>But we only observe case-level labels!</a:t>
            </a:r>
            <a:endParaRPr b="1" sz="1200">
              <a:solidFill>
                <a:schemeClr val="lt1"/>
              </a:solidFill>
              <a:latin typeface="Playfair Display"/>
              <a:ea typeface="Playfair Display"/>
              <a:cs typeface="Playfair Display"/>
              <a:sym typeface="Playfair Display"/>
            </a:endParaRPr>
          </a:p>
        </p:txBody>
      </p:sp>
      <p:pic>
        <p:nvPicPr>
          <p:cNvPr id="486" name="Google Shape;486;p58"/>
          <p:cNvPicPr preferRelativeResize="0"/>
          <p:nvPr/>
        </p:nvPicPr>
        <p:blipFill>
          <a:blip r:embed="rId6">
            <a:alphaModFix/>
          </a:blip>
          <a:stretch>
            <a:fillRect/>
          </a:stretch>
        </p:blipFill>
        <p:spPr>
          <a:xfrm>
            <a:off x="6535500" y="1870152"/>
            <a:ext cx="988200" cy="3309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9"/>
          <p:cNvSpPr txBox="1"/>
          <p:nvPr>
            <p:ph type="title"/>
          </p:nvPr>
        </p:nvSpPr>
        <p:spPr>
          <a:xfrm>
            <a:off x="276075" y="45720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Data Preprocessing</a:t>
            </a:r>
            <a:endParaRPr/>
          </a:p>
        </p:txBody>
      </p:sp>
      <p:sp>
        <p:nvSpPr>
          <p:cNvPr id="492" name="Google Shape;492;p59"/>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Math (1)</a:t>
            </a:r>
            <a:endParaRPr sz="800">
              <a:solidFill>
                <a:schemeClr val="lt1"/>
              </a:solidFill>
              <a:latin typeface="Lato"/>
              <a:ea typeface="Lato"/>
              <a:cs typeface="Lato"/>
              <a:sym typeface="Lato"/>
            </a:endParaRPr>
          </a:p>
        </p:txBody>
      </p:sp>
      <p:cxnSp>
        <p:nvCxnSpPr>
          <p:cNvPr id="493" name="Google Shape;493;p59"/>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494" name="Google Shape;494;p59"/>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graphicFrame>
        <p:nvGraphicFramePr>
          <p:cNvPr id="495" name="Google Shape;495;p59"/>
          <p:cNvGraphicFramePr/>
          <p:nvPr/>
        </p:nvGraphicFramePr>
        <p:xfrm>
          <a:off x="276125" y="1432375"/>
          <a:ext cx="3000000" cy="3000000"/>
        </p:xfrm>
        <a:graphic>
          <a:graphicData uri="http://schemas.openxmlformats.org/drawingml/2006/table">
            <a:tbl>
              <a:tblPr>
                <a:noFill/>
                <a:tableStyleId>{59768D74-2804-4642-8646-F58C71E427C0}</a:tableStyleId>
              </a:tblPr>
              <a:tblGrid>
                <a:gridCol w="859600"/>
                <a:gridCol w="859600"/>
                <a:gridCol w="859600"/>
                <a:gridCol w="859600"/>
                <a:gridCol w="859600"/>
                <a:gridCol w="208250"/>
                <a:gridCol w="1016925"/>
                <a:gridCol w="1016925"/>
                <a:gridCol w="1016925"/>
                <a:gridCol w="1016925"/>
              </a:tblGrid>
              <a:tr h="583975">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Split</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Cases</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Case %</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Benign</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High- Grade</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t/>
                      </a:r>
                      <a:endParaRPr sz="1300">
                        <a:latin typeface="Playfair Display"/>
                        <a:ea typeface="Playfair Display"/>
                        <a:cs typeface="Playfair Display"/>
                        <a:sym typeface="Playfair Display"/>
                      </a:endParaRPr>
                    </a:p>
                  </a:txBody>
                  <a:tcPr marT="91425" marB="91425" marR="91425" marL="91425" anchor="ctr">
                    <a:lnL cap="flat" cmpd="sng" w="9525">
                      <a:solidFill>
                        <a:schemeClr val="dk1">
                          <a:alpha val="0"/>
                        </a:schemeClr>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1C2026"/>
                      </a:solidFill>
                      <a:prstDash val="dot"/>
                      <a:round/>
                      <a:headEnd len="sm" w="sm" type="none"/>
                      <a:tailEnd len="sm" w="sm" type="none"/>
                    </a:lnB>
                  </a:tcPr>
                </a:tc>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Patches</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Patch %</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Benign</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c>
                  <a:txBody>
                    <a:bodyPr/>
                    <a:lstStyle/>
                    <a:p>
                      <a:pPr indent="0" lvl="0" marL="0" rtl="0" algn="ctr">
                        <a:spcBef>
                          <a:spcPts val="0"/>
                        </a:spcBef>
                        <a:spcAft>
                          <a:spcPts val="0"/>
                        </a:spcAft>
                        <a:buNone/>
                      </a:pPr>
                      <a:r>
                        <a:rPr b="1" lang="en" sz="1300">
                          <a:solidFill>
                            <a:schemeClr val="dk1"/>
                          </a:solidFill>
                          <a:latin typeface="Playfair Display"/>
                          <a:ea typeface="Playfair Display"/>
                          <a:cs typeface="Playfair Display"/>
                          <a:sym typeface="Playfair Display"/>
                        </a:rPr>
                        <a:t>High- Grade</a:t>
                      </a:r>
                      <a:endParaRPr b="1" sz="1300">
                        <a:solidFill>
                          <a:schemeClr val="dk1"/>
                        </a:solidFill>
                        <a:latin typeface="Playfair Display"/>
                        <a:ea typeface="Playfair Display"/>
                        <a:cs typeface="Playfair Display"/>
                        <a:sym typeface="Playfair Display"/>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accent4"/>
                    </a:solidFill>
                  </a:tcPr>
                </a:tc>
              </a:tr>
              <a:tr h="583975">
                <a:tc>
                  <a:txBody>
                    <a:bodyPr/>
                    <a:lstStyle/>
                    <a:p>
                      <a:pPr indent="0" lvl="0" marL="0" rtl="0" algn="ctr">
                        <a:spcBef>
                          <a:spcPts val="0"/>
                        </a:spcBef>
                        <a:spcAft>
                          <a:spcPts val="0"/>
                        </a:spcAft>
                        <a:buNone/>
                      </a:pPr>
                      <a:r>
                        <a:rPr lang="en">
                          <a:latin typeface="Playfair Display"/>
                          <a:ea typeface="Playfair Display"/>
                          <a:cs typeface="Playfair Display"/>
                          <a:sym typeface="Playfair Display"/>
                        </a:rPr>
                        <a:t>Train</a:t>
                      </a:r>
                      <a:endParaRPr>
                        <a:latin typeface="Playfair Display"/>
                        <a:ea typeface="Playfair Display"/>
                        <a:cs typeface="Playfair Display"/>
                        <a:sym typeface="Playfair Display"/>
                      </a:endParaRPr>
                    </a:p>
                  </a:txBody>
                  <a:tcPr marT="91425" marB="91425" marR="91425" marL="91425" anchor="ctr">
                    <a:lnT cap="flat" cmpd="sng" w="9525">
                      <a:solidFill>
                        <a:schemeClr val="lt1"/>
                      </a:solidFill>
                      <a:prstDash val="solid"/>
                      <a:round/>
                      <a:headEnd len="sm" w="sm" type="none"/>
                      <a:tailEnd len="sm" w="sm" type="none"/>
                    </a:lnT>
                  </a:tcPr>
                </a:tc>
                <a:tc>
                  <a:txBody>
                    <a:bodyPr/>
                    <a:lstStyle/>
                    <a:p>
                      <a:pPr indent="0" lvl="0" marL="0" rtl="0" algn="ctr">
                        <a:spcBef>
                          <a:spcPts val="0"/>
                        </a:spcBef>
                        <a:spcAft>
                          <a:spcPts val="0"/>
                        </a:spcAft>
                        <a:buNone/>
                      </a:pPr>
                      <a:r>
                        <a:rPr lang="en">
                          <a:latin typeface="Lato"/>
                          <a:ea typeface="Lato"/>
                          <a:cs typeface="Lato"/>
                          <a:sym typeface="Lato"/>
                        </a:rPr>
                        <a:t>50</a:t>
                      </a:r>
                      <a:endParaRPr>
                        <a:latin typeface="Lato"/>
                        <a:ea typeface="Lato"/>
                        <a:cs typeface="Lato"/>
                        <a:sym typeface="Lato"/>
                      </a:endParaRPr>
                    </a:p>
                  </a:txBody>
                  <a:tcPr marT="91425" marB="91425" marR="91425" marL="91425" anchor="ctr">
                    <a:lnT cap="flat" cmpd="sng" w="9525">
                      <a:solidFill>
                        <a:schemeClr val="lt1"/>
                      </a:solidFill>
                      <a:prstDash val="solid"/>
                      <a:round/>
                      <a:headEnd len="sm" w="sm" type="none"/>
                      <a:tailEnd len="sm" w="sm" type="none"/>
                    </a:lnT>
                  </a:tcPr>
                </a:tc>
                <a:tc>
                  <a:txBody>
                    <a:bodyPr/>
                    <a:lstStyle/>
                    <a:p>
                      <a:pPr indent="0" lvl="0" marL="0" rtl="0" algn="ctr">
                        <a:spcBef>
                          <a:spcPts val="0"/>
                        </a:spcBef>
                        <a:spcAft>
                          <a:spcPts val="0"/>
                        </a:spcAft>
                        <a:buNone/>
                      </a:pPr>
                      <a:r>
                        <a:rPr lang="en">
                          <a:latin typeface="Lato"/>
                          <a:ea typeface="Lato"/>
                          <a:cs typeface="Lato"/>
                          <a:sym typeface="Lato"/>
                        </a:rPr>
                        <a:t>59%</a:t>
                      </a:r>
                      <a:endParaRPr>
                        <a:latin typeface="Lato"/>
                        <a:ea typeface="Lato"/>
                        <a:cs typeface="Lato"/>
                        <a:sym typeface="Lato"/>
                      </a:endParaRPr>
                    </a:p>
                  </a:txBody>
                  <a:tcPr marT="91425" marB="91425" marR="91425" marL="91425" anchor="ctr">
                    <a:lnT cap="flat" cmpd="sng" w="9525">
                      <a:solidFill>
                        <a:schemeClr val="lt1"/>
                      </a:solidFill>
                      <a:prstDash val="solid"/>
                      <a:round/>
                      <a:headEnd len="sm" w="sm" type="none"/>
                      <a:tailEnd len="sm" w="sm" type="none"/>
                    </a:lnT>
                  </a:tcPr>
                </a:tc>
                <a:tc>
                  <a:txBody>
                    <a:bodyPr/>
                    <a:lstStyle/>
                    <a:p>
                      <a:pPr indent="0" lvl="0" marL="0" rtl="0" algn="ctr">
                        <a:spcBef>
                          <a:spcPts val="0"/>
                        </a:spcBef>
                        <a:spcAft>
                          <a:spcPts val="0"/>
                        </a:spcAft>
                        <a:buNone/>
                      </a:pPr>
                      <a:r>
                        <a:rPr lang="en">
                          <a:latin typeface="Lato"/>
                          <a:ea typeface="Lato"/>
                          <a:cs typeface="Lato"/>
                          <a:sym typeface="Lato"/>
                        </a:rPr>
                        <a:t>17</a:t>
                      </a:r>
                      <a:endParaRPr>
                        <a:latin typeface="Lato"/>
                        <a:ea typeface="Lato"/>
                        <a:cs typeface="Lato"/>
                        <a:sym typeface="Lato"/>
                      </a:endParaRPr>
                    </a:p>
                  </a:txBody>
                  <a:tcPr marT="91425" marB="91425" marR="91425" marL="91425" anchor="ctr">
                    <a:lnT cap="flat" cmpd="sng" w="9525">
                      <a:solidFill>
                        <a:schemeClr val="lt1"/>
                      </a:solidFill>
                      <a:prstDash val="solid"/>
                      <a:round/>
                      <a:headEnd len="sm" w="sm" type="none"/>
                      <a:tailEnd len="sm" w="sm" type="none"/>
                    </a:lnT>
                  </a:tcPr>
                </a:tc>
                <a:tc>
                  <a:txBody>
                    <a:bodyPr/>
                    <a:lstStyle/>
                    <a:p>
                      <a:pPr indent="0" lvl="0" marL="0" rtl="0" algn="ctr">
                        <a:spcBef>
                          <a:spcPts val="0"/>
                        </a:spcBef>
                        <a:spcAft>
                          <a:spcPts val="0"/>
                        </a:spcAft>
                        <a:buNone/>
                      </a:pPr>
                      <a:r>
                        <a:rPr lang="en">
                          <a:latin typeface="Lato"/>
                          <a:ea typeface="Lato"/>
                          <a:cs typeface="Lato"/>
                          <a:sym typeface="Lato"/>
                        </a:rPr>
                        <a:t>33</a:t>
                      </a:r>
                      <a:endParaRPr>
                        <a:latin typeface="Lato"/>
                        <a:ea typeface="Lato"/>
                        <a:cs typeface="Lato"/>
                        <a:sym typeface="Lato"/>
                      </a:endParaRPr>
                    </a:p>
                  </a:txBody>
                  <a:tcPr marT="91425" marB="91425" marR="91425" marL="91425" anchor="ctr">
                    <a:lnT cap="flat" cmpd="sng" w="9525">
                      <a:solidFill>
                        <a:schemeClr val="lt1"/>
                      </a:solidFill>
                      <a:prstDash val="solid"/>
                      <a:round/>
                      <a:headEnd len="sm" w="sm" type="none"/>
                      <a:tailEnd len="sm" w="sm" type="none"/>
                    </a:lnT>
                  </a:tcPr>
                </a:tc>
                <a:tc>
                  <a:txBody>
                    <a:bodyPr/>
                    <a:lstStyle/>
                    <a:p>
                      <a:pPr indent="0" lvl="0" marL="0" rtl="0" algn="ctr">
                        <a:spcBef>
                          <a:spcPts val="0"/>
                        </a:spcBef>
                        <a:spcAft>
                          <a:spcPts val="0"/>
                        </a:spcAft>
                        <a:buNone/>
                      </a:pPr>
                      <a:r>
                        <a:t/>
                      </a:r>
                      <a:endParaRPr>
                        <a:latin typeface="Lato"/>
                        <a:ea typeface="Lato"/>
                        <a:cs typeface="Lato"/>
                        <a:sym typeface="Lato"/>
                      </a:endParaRPr>
                    </a:p>
                  </a:txBody>
                  <a:tcPr marT="91425" marB="91425" marR="91425" marL="91425" anchor="ctr">
                    <a:lnT cap="flat" cmpd="sng" w="9525">
                      <a:solidFill>
                        <a:srgbClr val="1C2026"/>
                      </a:solidFill>
                      <a:prstDash val="dot"/>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Lato"/>
                          <a:ea typeface="Lato"/>
                          <a:cs typeface="Lato"/>
                          <a:sym typeface="Lato"/>
                        </a:rPr>
                        <a:t>47,679</a:t>
                      </a:r>
                      <a:endParaRPr>
                        <a:latin typeface="Lato"/>
                        <a:ea typeface="Lato"/>
                        <a:cs typeface="Lato"/>
                        <a:sym typeface="Lato"/>
                      </a:endParaRPr>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a:latin typeface="Lato"/>
                          <a:ea typeface="Lato"/>
                          <a:cs typeface="Lato"/>
                          <a:sym typeface="Lato"/>
                        </a:rPr>
                        <a:t>60%</a:t>
                      </a:r>
                      <a:endParaRPr>
                        <a:latin typeface="Lato"/>
                        <a:ea typeface="Lato"/>
                        <a:cs typeface="Lato"/>
                        <a:sym typeface="Lato"/>
                      </a:endParaRPr>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a:latin typeface="Lato"/>
                          <a:ea typeface="Lato"/>
                          <a:cs typeface="Lato"/>
                          <a:sym typeface="Lato"/>
                        </a:rPr>
                        <a:t>15,639</a:t>
                      </a:r>
                      <a:endParaRPr>
                        <a:latin typeface="Lato"/>
                        <a:ea typeface="Lato"/>
                        <a:cs typeface="Lato"/>
                        <a:sym typeface="Lato"/>
                      </a:endParaRPr>
                    </a:p>
                  </a:txBody>
                  <a:tcPr marT="91425" marB="91425" marR="91425" marL="91425" anchor="ctr">
                    <a:lnT cap="flat" cmpd="sng" w="95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en">
                          <a:latin typeface="Lato"/>
                          <a:ea typeface="Lato"/>
                          <a:cs typeface="Lato"/>
                          <a:sym typeface="Lato"/>
                        </a:rPr>
                        <a:t>32,040</a:t>
                      </a:r>
                      <a:endParaRPr>
                        <a:latin typeface="Lato"/>
                        <a:ea typeface="Lato"/>
                        <a:cs typeface="Lato"/>
                        <a:sym typeface="Lato"/>
                      </a:endParaRPr>
                    </a:p>
                  </a:txBody>
                  <a:tcPr marT="91425" marB="91425" marR="91425" marL="91425" anchor="ctr">
                    <a:lnT cap="flat" cmpd="sng" w="9525">
                      <a:solidFill>
                        <a:srgbClr val="9E9E9E"/>
                      </a:solidFill>
                      <a:prstDash val="solid"/>
                      <a:round/>
                      <a:headEnd len="sm" w="sm" type="none"/>
                      <a:tailEnd len="sm" w="sm" type="none"/>
                    </a:lnT>
                  </a:tcPr>
                </a:tc>
              </a:tr>
              <a:tr h="583975">
                <a:tc>
                  <a:txBody>
                    <a:bodyPr/>
                    <a:lstStyle/>
                    <a:p>
                      <a:pPr indent="0" lvl="0" marL="0" rtl="0" algn="ctr">
                        <a:spcBef>
                          <a:spcPts val="0"/>
                        </a:spcBef>
                        <a:spcAft>
                          <a:spcPts val="0"/>
                        </a:spcAft>
                        <a:buNone/>
                      </a:pPr>
                      <a:r>
                        <a:rPr lang="en">
                          <a:latin typeface="Playfair Display"/>
                          <a:ea typeface="Playfair Display"/>
                          <a:cs typeface="Playfair Display"/>
                          <a:sym typeface="Playfair Display"/>
                        </a:rPr>
                        <a:t>Test</a:t>
                      </a:r>
                      <a:endParaRPr>
                        <a:latin typeface="Playfair Display"/>
                        <a:ea typeface="Playfair Display"/>
                        <a:cs typeface="Playfair Display"/>
                        <a:sym typeface="Playfair Display"/>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17</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20%</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6</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12</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t/>
                      </a:r>
                      <a:endParaRPr>
                        <a:latin typeface="Lato"/>
                        <a:ea typeface="Lato"/>
                        <a:cs typeface="Lato"/>
                        <a:sym typeface="Lato"/>
                      </a:endParaRPr>
                    </a:p>
                  </a:txBody>
                  <a:tcPr marT="91425" marB="91425" marR="91425" marL="91425" anchor="ct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Lato"/>
                          <a:ea typeface="Lato"/>
                          <a:cs typeface="Lato"/>
                          <a:sym typeface="Lato"/>
                        </a:rPr>
                        <a:t>15,631</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20%</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5,968</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9,663</a:t>
                      </a:r>
                      <a:endParaRPr>
                        <a:latin typeface="Lato"/>
                        <a:ea typeface="Lato"/>
                        <a:cs typeface="Lato"/>
                        <a:sym typeface="Lato"/>
                      </a:endParaRPr>
                    </a:p>
                  </a:txBody>
                  <a:tcPr marT="91425" marB="91425" marR="91425" marL="91425" anchor="ctr"/>
                </a:tc>
              </a:tr>
              <a:tr h="583975">
                <a:tc>
                  <a:txBody>
                    <a:bodyPr/>
                    <a:lstStyle/>
                    <a:p>
                      <a:pPr indent="0" lvl="0" marL="0" rtl="0" algn="ctr">
                        <a:spcBef>
                          <a:spcPts val="0"/>
                        </a:spcBef>
                        <a:spcAft>
                          <a:spcPts val="0"/>
                        </a:spcAft>
                        <a:buNone/>
                      </a:pPr>
                      <a:r>
                        <a:rPr lang="en">
                          <a:latin typeface="Playfair Display"/>
                          <a:ea typeface="Playfair Display"/>
                          <a:cs typeface="Playfair Display"/>
                          <a:sym typeface="Playfair Display"/>
                        </a:rPr>
                        <a:t>Val</a:t>
                      </a:r>
                      <a:endParaRPr>
                        <a:latin typeface="Playfair Display"/>
                        <a:ea typeface="Playfair Display"/>
                        <a:cs typeface="Playfair Display"/>
                        <a:sym typeface="Playfair Display"/>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18</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21%</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5</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12</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t/>
                      </a:r>
                      <a:endParaRPr>
                        <a:latin typeface="Lato"/>
                        <a:ea typeface="Lato"/>
                        <a:cs typeface="Lato"/>
                        <a:sym typeface="Lato"/>
                      </a:endParaRPr>
                    </a:p>
                  </a:txBody>
                  <a:tcPr marT="91425" marB="91425" marR="91425" marL="91425" anchor="ct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Lato"/>
                          <a:ea typeface="Lato"/>
                          <a:cs typeface="Lato"/>
                          <a:sym typeface="Lato"/>
                        </a:rPr>
                        <a:t>16,166</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20%</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4,130</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12,036</a:t>
                      </a:r>
                      <a:endParaRPr>
                        <a:latin typeface="Lato"/>
                        <a:ea typeface="Lato"/>
                        <a:cs typeface="Lato"/>
                        <a:sym typeface="Lato"/>
                      </a:endParaRPr>
                    </a:p>
                  </a:txBody>
                  <a:tcPr marT="91425" marB="91425" marR="91425" marL="91425" anchor="ctr"/>
                </a:tc>
              </a:tr>
              <a:tr h="583975">
                <a:tc>
                  <a:txBody>
                    <a:bodyPr/>
                    <a:lstStyle/>
                    <a:p>
                      <a:pPr indent="0" lvl="0" marL="0" rtl="0" algn="ctr">
                        <a:spcBef>
                          <a:spcPts val="0"/>
                        </a:spcBef>
                        <a:spcAft>
                          <a:spcPts val="0"/>
                        </a:spcAft>
                        <a:buNone/>
                      </a:pPr>
                      <a:r>
                        <a:rPr lang="en">
                          <a:latin typeface="Playfair Display"/>
                          <a:ea typeface="Playfair Display"/>
                          <a:cs typeface="Playfair Display"/>
                          <a:sym typeface="Playfair Display"/>
                        </a:rPr>
                        <a:t>Total</a:t>
                      </a:r>
                      <a:endParaRPr>
                        <a:latin typeface="Playfair Display"/>
                        <a:ea typeface="Playfair Display"/>
                        <a:cs typeface="Playfair Display"/>
                        <a:sym typeface="Playfair Display"/>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85</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28</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57</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t/>
                      </a:r>
                      <a:endParaRPr>
                        <a:latin typeface="Lato"/>
                        <a:ea typeface="Lato"/>
                        <a:cs typeface="Lato"/>
                        <a:sym typeface="Lato"/>
                      </a:endParaRPr>
                    </a:p>
                  </a:txBody>
                  <a:tcPr marT="91425" marB="91425" marR="91425" marL="91425" anchor="ctr">
                    <a:lnT cap="flat" cmpd="sng" w="9525">
                      <a:solidFill>
                        <a:srgbClr val="9E9E9E">
                          <a:alpha val="0"/>
                        </a:srgbClr>
                      </a:solidFill>
                      <a:prstDash val="solid"/>
                      <a:round/>
                      <a:headEnd len="sm" w="sm" type="none"/>
                      <a:tailEnd len="sm" w="sm" type="none"/>
                    </a:lnT>
                    <a:lnB cap="flat" cmpd="sng" w="9525">
                      <a:solidFill>
                        <a:srgbClr val="9E9E9E"/>
                      </a:solidFill>
                      <a:prstDash val="dot"/>
                      <a:round/>
                      <a:headEnd len="sm" w="sm" type="none"/>
                      <a:tailEnd len="sm" w="sm" type="none"/>
                    </a:lnB>
                  </a:tcPr>
                </a:tc>
                <a:tc>
                  <a:txBody>
                    <a:bodyPr/>
                    <a:lstStyle/>
                    <a:p>
                      <a:pPr indent="0" lvl="0" marL="0" rtl="0" algn="ctr">
                        <a:spcBef>
                          <a:spcPts val="0"/>
                        </a:spcBef>
                        <a:spcAft>
                          <a:spcPts val="0"/>
                        </a:spcAft>
                        <a:buNone/>
                      </a:pPr>
                      <a:r>
                        <a:rPr lang="en">
                          <a:latin typeface="Lato"/>
                          <a:ea typeface="Lato"/>
                          <a:cs typeface="Lato"/>
                          <a:sym typeface="Lato"/>
                        </a:rPr>
                        <a:t>79,476</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25,737</a:t>
                      </a:r>
                      <a:endParaRPr>
                        <a:latin typeface="Lato"/>
                        <a:ea typeface="Lato"/>
                        <a:cs typeface="Lato"/>
                        <a:sym typeface="Lato"/>
                      </a:endParaRPr>
                    </a:p>
                  </a:txBody>
                  <a:tcPr marT="91425" marB="91425" marR="91425" marL="91425" anchor="ctr"/>
                </a:tc>
                <a:tc>
                  <a:txBody>
                    <a:bodyPr/>
                    <a:lstStyle/>
                    <a:p>
                      <a:pPr indent="0" lvl="0" marL="0" rtl="0" algn="ctr">
                        <a:spcBef>
                          <a:spcPts val="0"/>
                        </a:spcBef>
                        <a:spcAft>
                          <a:spcPts val="0"/>
                        </a:spcAft>
                        <a:buNone/>
                      </a:pPr>
                      <a:r>
                        <a:rPr lang="en">
                          <a:latin typeface="Lato"/>
                          <a:ea typeface="Lato"/>
                          <a:cs typeface="Lato"/>
                          <a:sym typeface="Lato"/>
                        </a:rPr>
                        <a:t>53,739</a:t>
                      </a:r>
                      <a:endParaRPr>
                        <a:latin typeface="Lato"/>
                        <a:ea typeface="Lato"/>
                        <a:cs typeface="Lato"/>
                        <a:sym typeface="Lato"/>
                      </a:endParaRPr>
                    </a:p>
                  </a:txBody>
                  <a:tcPr marT="91425" marB="91425" marR="91425" marL="91425" anchor="ctr"/>
                </a:tc>
              </a:tr>
            </a:tbl>
          </a:graphicData>
        </a:graphic>
      </p:graphicFrame>
      <p:sp>
        <p:nvSpPr>
          <p:cNvPr id="496" name="Google Shape;496;p59"/>
          <p:cNvSpPr txBox="1"/>
          <p:nvPr/>
        </p:nvSpPr>
        <p:spPr>
          <a:xfrm>
            <a:off x="3053253" y="937775"/>
            <a:ext cx="3037500" cy="30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lt1"/>
                </a:solidFill>
                <a:latin typeface="Lato"/>
                <a:ea typeface="Lato"/>
                <a:cs typeface="Lato"/>
                <a:sym typeface="Lato"/>
              </a:rPr>
              <a:t>Train / Test / Val Splits</a:t>
            </a:r>
            <a:endParaRPr b="1" sz="1500">
              <a:solidFill>
                <a:schemeClr val="l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60"/>
          <p:cNvSpPr txBox="1"/>
          <p:nvPr>
            <p:ph type="title"/>
          </p:nvPr>
        </p:nvSpPr>
        <p:spPr>
          <a:xfrm>
            <a:off x="276075" y="45720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Hierarchical Attention</a:t>
            </a:r>
            <a:endParaRPr/>
          </a:p>
        </p:txBody>
      </p:sp>
      <p:sp>
        <p:nvSpPr>
          <p:cNvPr id="502" name="Google Shape;502;p60"/>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Math (2d)</a:t>
            </a:r>
            <a:endParaRPr sz="800">
              <a:solidFill>
                <a:schemeClr val="lt1"/>
              </a:solidFill>
              <a:latin typeface="Lato"/>
              <a:ea typeface="Lato"/>
              <a:cs typeface="Lato"/>
              <a:sym typeface="Lato"/>
            </a:endParaRPr>
          </a:p>
        </p:txBody>
      </p:sp>
      <p:sp>
        <p:nvSpPr>
          <p:cNvPr id="503" name="Google Shape;503;p60"/>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504" name="Google Shape;504;p60"/>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pic>
        <p:nvPicPr>
          <p:cNvPr id="505" name="Google Shape;505;p60" title="Screenshot 2026-02-01 at 22.08.33.png"/>
          <p:cNvPicPr preferRelativeResize="0"/>
          <p:nvPr/>
        </p:nvPicPr>
        <p:blipFill>
          <a:blip r:embed="rId3">
            <a:alphaModFix/>
          </a:blip>
          <a:stretch>
            <a:fillRect/>
          </a:stretch>
        </p:blipFill>
        <p:spPr>
          <a:xfrm>
            <a:off x="1500175" y="3185400"/>
            <a:ext cx="6143625" cy="1009650"/>
          </a:xfrm>
          <a:prstGeom prst="rect">
            <a:avLst/>
          </a:prstGeom>
          <a:noFill/>
          <a:ln>
            <a:noFill/>
          </a:ln>
        </p:spPr>
      </p:pic>
      <p:pic>
        <p:nvPicPr>
          <p:cNvPr id="506" name="Google Shape;506;p60" title="Screenshot 2026-02-01 at 22.08.53.png"/>
          <p:cNvPicPr preferRelativeResize="0"/>
          <p:nvPr/>
        </p:nvPicPr>
        <p:blipFill>
          <a:blip r:embed="rId4">
            <a:alphaModFix/>
          </a:blip>
          <a:stretch>
            <a:fillRect/>
          </a:stretch>
        </p:blipFill>
        <p:spPr>
          <a:xfrm>
            <a:off x="3514725" y="1300075"/>
            <a:ext cx="2114550" cy="1190625"/>
          </a:xfrm>
          <a:prstGeom prst="rect">
            <a:avLst/>
          </a:prstGeom>
          <a:noFill/>
          <a:ln>
            <a:noFill/>
          </a:ln>
        </p:spPr>
      </p:pic>
      <p:sp>
        <p:nvSpPr>
          <p:cNvPr id="507" name="Google Shape;507;p60"/>
          <p:cNvSpPr txBox="1"/>
          <p:nvPr/>
        </p:nvSpPr>
        <p:spPr>
          <a:xfrm>
            <a:off x="3717000" y="897775"/>
            <a:ext cx="1710000" cy="26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Bag Embedding</a:t>
            </a:r>
            <a:endParaRPr b="1">
              <a:solidFill>
                <a:schemeClr val="lt1"/>
              </a:solidFill>
              <a:latin typeface="Lato"/>
              <a:ea typeface="Lato"/>
              <a:cs typeface="Lato"/>
              <a:sym typeface="Lato"/>
            </a:endParaRPr>
          </a:p>
        </p:txBody>
      </p:sp>
      <p:sp>
        <p:nvSpPr>
          <p:cNvPr id="508" name="Google Shape;508;p60"/>
          <p:cNvSpPr txBox="1"/>
          <p:nvPr/>
        </p:nvSpPr>
        <p:spPr>
          <a:xfrm>
            <a:off x="3633000" y="2794647"/>
            <a:ext cx="1971900" cy="26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lt1"/>
                </a:solidFill>
                <a:latin typeface="Lato"/>
                <a:ea typeface="Lato"/>
                <a:cs typeface="Lato"/>
                <a:sym typeface="Lato"/>
              </a:rPr>
              <a:t>Weight Calculation</a:t>
            </a:r>
            <a:endParaRPr b="1">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1"/>
          <p:cNvSpPr txBox="1"/>
          <p:nvPr>
            <p:ph type="title"/>
          </p:nvPr>
        </p:nvSpPr>
        <p:spPr>
          <a:xfrm>
            <a:off x="276075" y="45720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Model Overview + </a:t>
            </a:r>
            <a:r>
              <a:rPr lang="en"/>
              <a:t>Tensor Flow</a:t>
            </a:r>
            <a:endParaRPr/>
          </a:p>
        </p:txBody>
      </p:sp>
      <p:sp>
        <p:nvSpPr>
          <p:cNvPr id="514" name="Google Shape;514;p61"/>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Math (2a, 2d)</a:t>
            </a:r>
            <a:endParaRPr sz="800">
              <a:solidFill>
                <a:schemeClr val="lt1"/>
              </a:solidFill>
              <a:latin typeface="Lato"/>
              <a:ea typeface="Lato"/>
              <a:cs typeface="Lato"/>
              <a:sym typeface="Lato"/>
            </a:endParaRPr>
          </a:p>
        </p:txBody>
      </p:sp>
      <p:cxnSp>
        <p:nvCxnSpPr>
          <p:cNvPr id="515" name="Google Shape;515;p61"/>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516" name="Google Shape;516;p61"/>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17" name="Google Shape;517;p61"/>
          <p:cNvSpPr txBox="1"/>
          <p:nvPr>
            <p:ph idx="15" type="subTitle"/>
          </p:nvPr>
        </p:nvSpPr>
        <p:spPr>
          <a:xfrm>
            <a:off x="2489950" y="996423"/>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02</a:t>
            </a:r>
            <a:endParaRPr>
              <a:latin typeface="Lato"/>
              <a:ea typeface="Lato"/>
              <a:cs typeface="Lato"/>
              <a:sym typeface="Lato"/>
            </a:endParaRPr>
          </a:p>
        </p:txBody>
      </p:sp>
      <p:sp>
        <p:nvSpPr>
          <p:cNvPr id="518" name="Google Shape;518;p61"/>
          <p:cNvSpPr txBox="1"/>
          <p:nvPr>
            <p:ph idx="14" type="subTitle"/>
          </p:nvPr>
        </p:nvSpPr>
        <p:spPr>
          <a:xfrm>
            <a:off x="279525" y="996423"/>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01</a:t>
            </a:r>
            <a:endParaRPr>
              <a:latin typeface="Lato"/>
              <a:ea typeface="Lato"/>
              <a:cs typeface="Lato"/>
              <a:sym typeface="Lato"/>
            </a:endParaRPr>
          </a:p>
        </p:txBody>
      </p:sp>
      <p:sp>
        <p:nvSpPr>
          <p:cNvPr id="519" name="Google Shape;519;p61"/>
          <p:cNvSpPr txBox="1"/>
          <p:nvPr>
            <p:ph idx="16" type="subTitle"/>
          </p:nvPr>
        </p:nvSpPr>
        <p:spPr>
          <a:xfrm>
            <a:off x="4700375" y="996423"/>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03</a:t>
            </a:r>
            <a:endParaRPr>
              <a:latin typeface="Lato"/>
              <a:ea typeface="Lato"/>
              <a:cs typeface="Lato"/>
              <a:sym typeface="Lato"/>
            </a:endParaRPr>
          </a:p>
        </p:txBody>
      </p:sp>
      <p:sp>
        <p:nvSpPr>
          <p:cNvPr id="520" name="Google Shape;520;p61"/>
          <p:cNvSpPr txBox="1"/>
          <p:nvPr>
            <p:ph idx="17" type="subTitle"/>
          </p:nvPr>
        </p:nvSpPr>
        <p:spPr>
          <a:xfrm>
            <a:off x="6910800" y="996423"/>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04</a:t>
            </a:r>
            <a:endParaRPr>
              <a:latin typeface="Lato"/>
              <a:ea typeface="Lato"/>
              <a:cs typeface="Lato"/>
              <a:sym typeface="Lato"/>
            </a:endParaRPr>
          </a:p>
        </p:txBody>
      </p:sp>
      <p:sp>
        <p:nvSpPr>
          <p:cNvPr id="521" name="Google Shape;521;p61"/>
          <p:cNvSpPr txBox="1"/>
          <p:nvPr>
            <p:ph idx="3" type="subTitle"/>
          </p:nvPr>
        </p:nvSpPr>
        <p:spPr>
          <a:xfrm>
            <a:off x="279528" y="1246521"/>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Initial Image Input</a:t>
            </a:r>
            <a:endParaRPr/>
          </a:p>
        </p:txBody>
      </p:sp>
      <p:sp>
        <p:nvSpPr>
          <p:cNvPr id="522" name="Google Shape;522;p61"/>
          <p:cNvSpPr txBox="1"/>
          <p:nvPr>
            <p:ph idx="4" type="subTitle"/>
          </p:nvPr>
        </p:nvSpPr>
        <p:spPr>
          <a:xfrm>
            <a:off x="2489940" y="1246521"/>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Batched Image Input</a:t>
            </a:r>
            <a:endParaRPr/>
          </a:p>
        </p:txBody>
      </p:sp>
      <p:sp>
        <p:nvSpPr>
          <p:cNvPr id="523" name="Google Shape;523;p61"/>
          <p:cNvSpPr txBox="1"/>
          <p:nvPr>
            <p:ph idx="5" type="subTitle"/>
          </p:nvPr>
        </p:nvSpPr>
        <p:spPr>
          <a:xfrm>
            <a:off x="4695138" y="1246521"/>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KimiaNet Output</a:t>
            </a:r>
            <a:endParaRPr/>
          </a:p>
        </p:txBody>
      </p:sp>
      <p:sp>
        <p:nvSpPr>
          <p:cNvPr id="524" name="Google Shape;524;p61"/>
          <p:cNvSpPr txBox="1"/>
          <p:nvPr>
            <p:ph idx="6" type="subTitle"/>
          </p:nvPr>
        </p:nvSpPr>
        <p:spPr>
          <a:xfrm>
            <a:off x="6900335" y="1246521"/>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Flatten</a:t>
            </a:r>
            <a:endParaRPr/>
          </a:p>
        </p:txBody>
      </p:sp>
      <p:sp>
        <p:nvSpPr>
          <p:cNvPr id="525" name="Google Shape;525;p61"/>
          <p:cNvSpPr txBox="1"/>
          <p:nvPr>
            <p:ph idx="7" type="body"/>
          </p:nvPr>
        </p:nvSpPr>
        <p:spPr>
          <a:xfrm>
            <a:off x="274950" y="1529859"/>
            <a:ext cx="1970100" cy="406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Single patch: raw image input cropped from a slice  represented as coordinates of pixel intensities</a:t>
            </a:r>
            <a:endParaRPr sz="800"/>
          </a:p>
        </p:txBody>
      </p:sp>
      <p:sp>
        <p:nvSpPr>
          <p:cNvPr id="526" name="Google Shape;526;p61"/>
          <p:cNvSpPr txBox="1"/>
          <p:nvPr>
            <p:ph idx="8" type="body"/>
          </p:nvPr>
        </p:nvSpPr>
        <p:spPr>
          <a:xfrm>
            <a:off x="2489940" y="1529859"/>
            <a:ext cx="1970100" cy="264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Multiple patches are batched together to be processed simultaneously</a:t>
            </a:r>
            <a:endParaRPr sz="800"/>
          </a:p>
        </p:txBody>
      </p:sp>
      <p:sp>
        <p:nvSpPr>
          <p:cNvPr id="527" name="Google Shape;527;p61"/>
          <p:cNvSpPr txBox="1"/>
          <p:nvPr>
            <p:ph idx="9" type="body"/>
          </p:nvPr>
        </p:nvSpPr>
        <p:spPr>
          <a:xfrm>
            <a:off x="4704930" y="1529859"/>
            <a:ext cx="1970100" cy="548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Each</a:t>
            </a:r>
            <a:r>
              <a:rPr lang="en" sz="800"/>
              <a:t> batch is passed through a pre-trained KimiaNet to detect high-level features and adaptively pooled into a fixed  </a:t>
            </a:r>
            <a:r>
              <a:rPr lang="en" sz="800"/>
              <a:t>2x2</a:t>
            </a:r>
            <a:r>
              <a:rPr lang="en" sz="800"/>
              <a:t> spatial grid with 1024-dimensional embeddings</a:t>
            </a:r>
            <a:endParaRPr sz="800"/>
          </a:p>
        </p:txBody>
      </p:sp>
      <p:sp>
        <p:nvSpPr>
          <p:cNvPr id="528" name="Google Shape;528;p61"/>
          <p:cNvSpPr txBox="1"/>
          <p:nvPr>
            <p:ph idx="13" type="body"/>
          </p:nvPr>
        </p:nvSpPr>
        <p:spPr>
          <a:xfrm>
            <a:off x="6919910" y="1542830"/>
            <a:ext cx="1970100" cy="264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Turn each pooled feature grid to a single vector</a:t>
            </a:r>
            <a:endParaRPr sz="800"/>
          </a:p>
        </p:txBody>
      </p:sp>
      <p:sp>
        <p:nvSpPr>
          <p:cNvPr id="529" name="Google Shape;529;p61"/>
          <p:cNvSpPr txBox="1"/>
          <p:nvPr>
            <p:ph idx="15" type="subTitle"/>
          </p:nvPr>
        </p:nvSpPr>
        <p:spPr>
          <a:xfrm>
            <a:off x="2489263" y="2555264"/>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06</a:t>
            </a:r>
            <a:endParaRPr>
              <a:latin typeface="Lato"/>
              <a:ea typeface="Lato"/>
              <a:cs typeface="Lato"/>
              <a:sym typeface="Lato"/>
            </a:endParaRPr>
          </a:p>
        </p:txBody>
      </p:sp>
      <p:sp>
        <p:nvSpPr>
          <p:cNvPr id="530" name="Google Shape;530;p61"/>
          <p:cNvSpPr txBox="1"/>
          <p:nvPr>
            <p:ph idx="14" type="subTitle"/>
          </p:nvPr>
        </p:nvSpPr>
        <p:spPr>
          <a:xfrm>
            <a:off x="278838" y="2555264"/>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05</a:t>
            </a:r>
            <a:endParaRPr>
              <a:latin typeface="Lato"/>
              <a:ea typeface="Lato"/>
              <a:cs typeface="Lato"/>
              <a:sym typeface="Lato"/>
            </a:endParaRPr>
          </a:p>
        </p:txBody>
      </p:sp>
      <p:sp>
        <p:nvSpPr>
          <p:cNvPr id="531" name="Google Shape;531;p61"/>
          <p:cNvSpPr txBox="1"/>
          <p:nvPr>
            <p:ph idx="16" type="subTitle"/>
          </p:nvPr>
        </p:nvSpPr>
        <p:spPr>
          <a:xfrm>
            <a:off x="4699688" y="2555264"/>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07</a:t>
            </a:r>
            <a:endParaRPr>
              <a:latin typeface="Lato"/>
              <a:ea typeface="Lato"/>
              <a:cs typeface="Lato"/>
              <a:sym typeface="Lato"/>
            </a:endParaRPr>
          </a:p>
        </p:txBody>
      </p:sp>
      <p:sp>
        <p:nvSpPr>
          <p:cNvPr id="532" name="Google Shape;532;p61"/>
          <p:cNvSpPr txBox="1"/>
          <p:nvPr>
            <p:ph idx="3" type="subTitle"/>
          </p:nvPr>
        </p:nvSpPr>
        <p:spPr>
          <a:xfrm>
            <a:off x="278840" y="2805363"/>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Patch Projector</a:t>
            </a:r>
            <a:endParaRPr/>
          </a:p>
        </p:txBody>
      </p:sp>
      <p:sp>
        <p:nvSpPr>
          <p:cNvPr id="533" name="Google Shape;533;p61"/>
          <p:cNvSpPr txBox="1"/>
          <p:nvPr>
            <p:ph idx="4" type="subTitle"/>
          </p:nvPr>
        </p:nvSpPr>
        <p:spPr>
          <a:xfrm>
            <a:off x="2489252" y="2805363"/>
            <a:ext cx="197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Patch-Level Attention + Stack</a:t>
            </a:r>
            <a:endParaRPr/>
          </a:p>
        </p:txBody>
      </p:sp>
      <p:sp>
        <p:nvSpPr>
          <p:cNvPr id="534" name="Google Shape;534;p61"/>
          <p:cNvSpPr txBox="1"/>
          <p:nvPr>
            <p:ph idx="5" type="subTitle"/>
          </p:nvPr>
        </p:nvSpPr>
        <p:spPr>
          <a:xfrm>
            <a:off x="4694450" y="2805363"/>
            <a:ext cx="197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Stain-Level Attention + Stack</a:t>
            </a:r>
            <a:endParaRPr/>
          </a:p>
        </p:txBody>
      </p:sp>
      <p:sp>
        <p:nvSpPr>
          <p:cNvPr id="535" name="Google Shape;535;p61"/>
          <p:cNvSpPr txBox="1"/>
          <p:nvPr>
            <p:ph idx="7" type="body"/>
          </p:nvPr>
        </p:nvSpPr>
        <p:spPr>
          <a:xfrm>
            <a:off x="274263" y="3088700"/>
            <a:ext cx="1970100" cy="548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Maps the pooled features into patch embeddings that capture features relevant for melanoma detection</a:t>
            </a:r>
            <a:endParaRPr sz="800"/>
          </a:p>
          <a:p>
            <a:pPr indent="0" lvl="0" marL="0" rtl="0" algn="l">
              <a:spcBef>
                <a:spcPts val="0"/>
              </a:spcBef>
              <a:spcAft>
                <a:spcPts val="0"/>
              </a:spcAft>
              <a:buNone/>
            </a:pPr>
            <a:r>
              <a:t/>
            </a:r>
            <a:endParaRPr sz="800"/>
          </a:p>
        </p:txBody>
      </p:sp>
      <p:sp>
        <p:nvSpPr>
          <p:cNvPr id="536" name="Google Shape;536;p61"/>
          <p:cNvSpPr txBox="1"/>
          <p:nvPr>
            <p:ph idx="8" type="body"/>
          </p:nvPr>
        </p:nvSpPr>
        <p:spPr>
          <a:xfrm>
            <a:off x="2489252" y="3248576"/>
            <a:ext cx="1970100" cy="406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Learns which patches in a slice matter most and aggregates them into a single </a:t>
            </a:r>
            <a:r>
              <a:rPr lang="en" sz="800"/>
              <a:t>slice</a:t>
            </a:r>
            <a:r>
              <a:rPr lang="en" sz="800"/>
              <a:t> representation</a:t>
            </a:r>
            <a:endParaRPr sz="800"/>
          </a:p>
        </p:txBody>
      </p:sp>
      <p:sp>
        <p:nvSpPr>
          <p:cNvPr id="537" name="Google Shape;537;p61"/>
          <p:cNvSpPr txBox="1"/>
          <p:nvPr>
            <p:ph idx="9" type="body"/>
          </p:nvPr>
        </p:nvSpPr>
        <p:spPr>
          <a:xfrm>
            <a:off x="4704242" y="3248576"/>
            <a:ext cx="1970100" cy="406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Learns which slices are informative and aggregates them into one stain representation</a:t>
            </a:r>
            <a:endParaRPr sz="800"/>
          </a:p>
        </p:txBody>
      </p:sp>
      <p:sp>
        <p:nvSpPr>
          <p:cNvPr id="538" name="Google Shape;538;p61"/>
          <p:cNvSpPr txBox="1"/>
          <p:nvPr>
            <p:ph idx="16" type="subTitle"/>
          </p:nvPr>
        </p:nvSpPr>
        <p:spPr>
          <a:xfrm>
            <a:off x="6903411" y="2521720"/>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08</a:t>
            </a:r>
            <a:endParaRPr>
              <a:latin typeface="Lato"/>
              <a:ea typeface="Lato"/>
              <a:cs typeface="Lato"/>
              <a:sym typeface="Lato"/>
            </a:endParaRPr>
          </a:p>
        </p:txBody>
      </p:sp>
      <p:sp>
        <p:nvSpPr>
          <p:cNvPr id="539" name="Google Shape;539;p61"/>
          <p:cNvSpPr txBox="1"/>
          <p:nvPr>
            <p:ph idx="5" type="subTitle"/>
          </p:nvPr>
        </p:nvSpPr>
        <p:spPr>
          <a:xfrm>
            <a:off x="6898174" y="2771818"/>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Case-Level Attention</a:t>
            </a:r>
            <a:endParaRPr/>
          </a:p>
        </p:txBody>
      </p:sp>
      <p:sp>
        <p:nvSpPr>
          <p:cNvPr id="540" name="Google Shape;540;p61"/>
          <p:cNvSpPr txBox="1"/>
          <p:nvPr>
            <p:ph idx="9" type="body"/>
          </p:nvPr>
        </p:nvSpPr>
        <p:spPr>
          <a:xfrm>
            <a:off x="6907966" y="3055156"/>
            <a:ext cx="1970100" cy="406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Learns which stains matter most and produces a single embedding representing the entire case</a:t>
            </a:r>
            <a:endParaRPr sz="800"/>
          </a:p>
        </p:txBody>
      </p:sp>
      <p:sp>
        <p:nvSpPr>
          <p:cNvPr id="541" name="Google Shape;541;p61"/>
          <p:cNvSpPr txBox="1"/>
          <p:nvPr>
            <p:ph idx="16" type="subTitle"/>
          </p:nvPr>
        </p:nvSpPr>
        <p:spPr>
          <a:xfrm>
            <a:off x="2456511" y="4293428"/>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09</a:t>
            </a:r>
            <a:endParaRPr>
              <a:latin typeface="Lato"/>
              <a:ea typeface="Lato"/>
              <a:cs typeface="Lato"/>
              <a:sym typeface="Lato"/>
            </a:endParaRPr>
          </a:p>
        </p:txBody>
      </p:sp>
      <p:sp>
        <p:nvSpPr>
          <p:cNvPr id="542" name="Google Shape;542;p61"/>
          <p:cNvSpPr txBox="1"/>
          <p:nvPr>
            <p:ph idx="5" type="subTitle"/>
          </p:nvPr>
        </p:nvSpPr>
        <p:spPr>
          <a:xfrm>
            <a:off x="2747299" y="4293427"/>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Case Classifier</a:t>
            </a:r>
            <a:endParaRPr/>
          </a:p>
        </p:txBody>
      </p:sp>
      <p:sp>
        <p:nvSpPr>
          <p:cNvPr id="543" name="Google Shape;543;p61"/>
          <p:cNvSpPr txBox="1"/>
          <p:nvPr>
            <p:ph idx="9" type="body"/>
          </p:nvPr>
        </p:nvSpPr>
        <p:spPr>
          <a:xfrm>
            <a:off x="4046856" y="4258014"/>
            <a:ext cx="1970100" cy="264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800"/>
              <a:t>Maps the case embedding to class scores used for classification</a:t>
            </a:r>
            <a:endParaRPr sz="800"/>
          </a:p>
        </p:txBody>
      </p:sp>
      <p:sp>
        <p:nvSpPr>
          <p:cNvPr id="544" name="Google Shape;544;p61"/>
          <p:cNvSpPr txBox="1"/>
          <p:nvPr/>
        </p:nvSpPr>
        <p:spPr>
          <a:xfrm>
            <a:off x="528175" y="2004313"/>
            <a:ext cx="12654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(C, H, W)</a:t>
            </a:r>
            <a:endParaRPr sz="1700">
              <a:solidFill>
                <a:schemeClr val="lt1"/>
              </a:solidFill>
              <a:latin typeface="Lato"/>
              <a:ea typeface="Lato"/>
              <a:cs typeface="Lato"/>
              <a:sym typeface="Lato"/>
            </a:endParaRPr>
          </a:p>
        </p:txBody>
      </p:sp>
      <p:sp>
        <p:nvSpPr>
          <p:cNvPr id="545" name="Google Shape;545;p61"/>
          <p:cNvSpPr txBox="1"/>
          <p:nvPr/>
        </p:nvSpPr>
        <p:spPr>
          <a:xfrm>
            <a:off x="2544950" y="2004313"/>
            <a:ext cx="16638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(B, M, C, H, W)</a:t>
            </a:r>
            <a:endParaRPr sz="1700">
              <a:solidFill>
                <a:schemeClr val="lt1"/>
              </a:solidFill>
              <a:latin typeface="Lato"/>
              <a:ea typeface="Lato"/>
              <a:cs typeface="Lato"/>
              <a:sym typeface="Lato"/>
            </a:endParaRPr>
          </a:p>
        </p:txBody>
      </p:sp>
      <p:sp>
        <p:nvSpPr>
          <p:cNvPr id="546" name="Google Shape;546;p61"/>
          <p:cNvSpPr txBox="1"/>
          <p:nvPr/>
        </p:nvSpPr>
        <p:spPr>
          <a:xfrm>
            <a:off x="4667546" y="2134700"/>
            <a:ext cx="18441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(1, M, 1024, 2, 2)</a:t>
            </a:r>
            <a:endParaRPr sz="1700">
              <a:solidFill>
                <a:schemeClr val="lt1"/>
              </a:solidFill>
              <a:latin typeface="Lato"/>
              <a:ea typeface="Lato"/>
              <a:cs typeface="Lato"/>
              <a:sym typeface="Lato"/>
            </a:endParaRPr>
          </a:p>
        </p:txBody>
      </p:sp>
      <p:sp>
        <p:nvSpPr>
          <p:cNvPr id="547" name="Google Shape;547;p61"/>
          <p:cNvSpPr txBox="1"/>
          <p:nvPr/>
        </p:nvSpPr>
        <p:spPr>
          <a:xfrm>
            <a:off x="6877346" y="2004313"/>
            <a:ext cx="18441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(1, M, 4096)</a:t>
            </a:r>
            <a:endParaRPr sz="1700">
              <a:solidFill>
                <a:schemeClr val="lt1"/>
              </a:solidFill>
              <a:latin typeface="Lato"/>
              <a:ea typeface="Lato"/>
              <a:cs typeface="Lato"/>
              <a:sym typeface="Lato"/>
            </a:endParaRPr>
          </a:p>
        </p:txBody>
      </p:sp>
      <p:sp>
        <p:nvSpPr>
          <p:cNvPr id="548" name="Google Shape;548;p61"/>
          <p:cNvSpPr txBox="1"/>
          <p:nvPr/>
        </p:nvSpPr>
        <p:spPr>
          <a:xfrm>
            <a:off x="528175" y="3586338"/>
            <a:ext cx="12654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(M, 512)</a:t>
            </a:r>
            <a:endParaRPr sz="1700">
              <a:solidFill>
                <a:schemeClr val="lt1"/>
              </a:solidFill>
              <a:latin typeface="Lato"/>
              <a:ea typeface="Lato"/>
              <a:cs typeface="Lato"/>
              <a:sym typeface="Lato"/>
            </a:endParaRPr>
          </a:p>
        </p:txBody>
      </p:sp>
      <p:sp>
        <p:nvSpPr>
          <p:cNvPr id="549" name="Google Shape;549;p61"/>
          <p:cNvSpPr txBox="1"/>
          <p:nvPr/>
        </p:nvSpPr>
        <p:spPr>
          <a:xfrm>
            <a:off x="2744150" y="3661270"/>
            <a:ext cx="12654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(1, 512)</a:t>
            </a:r>
            <a:endParaRPr sz="1700">
              <a:solidFill>
                <a:schemeClr val="lt1"/>
              </a:solidFill>
              <a:latin typeface="Lato"/>
              <a:ea typeface="Lato"/>
              <a:cs typeface="Lato"/>
              <a:sym typeface="Lato"/>
            </a:endParaRPr>
          </a:p>
        </p:txBody>
      </p:sp>
      <p:sp>
        <p:nvSpPr>
          <p:cNvPr id="550" name="Google Shape;550;p61"/>
          <p:cNvSpPr txBox="1"/>
          <p:nvPr/>
        </p:nvSpPr>
        <p:spPr>
          <a:xfrm>
            <a:off x="5046800" y="3661270"/>
            <a:ext cx="12654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(1, 512)</a:t>
            </a:r>
            <a:endParaRPr sz="1700">
              <a:solidFill>
                <a:schemeClr val="lt1"/>
              </a:solidFill>
              <a:latin typeface="Lato"/>
              <a:ea typeface="Lato"/>
              <a:cs typeface="Lato"/>
              <a:sym typeface="Lato"/>
            </a:endParaRPr>
          </a:p>
        </p:txBody>
      </p:sp>
      <p:sp>
        <p:nvSpPr>
          <p:cNvPr id="551" name="Google Shape;551;p61"/>
          <p:cNvSpPr txBox="1"/>
          <p:nvPr/>
        </p:nvSpPr>
        <p:spPr>
          <a:xfrm>
            <a:off x="7218500" y="3661270"/>
            <a:ext cx="12654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(1, 512)</a:t>
            </a:r>
            <a:endParaRPr sz="1700">
              <a:solidFill>
                <a:schemeClr val="lt1"/>
              </a:solidFill>
              <a:latin typeface="Lato"/>
              <a:ea typeface="Lato"/>
              <a:cs typeface="Lato"/>
              <a:sym typeface="Lato"/>
            </a:endParaRPr>
          </a:p>
        </p:txBody>
      </p:sp>
      <p:sp>
        <p:nvSpPr>
          <p:cNvPr id="552" name="Google Shape;552;p61"/>
          <p:cNvSpPr txBox="1"/>
          <p:nvPr/>
        </p:nvSpPr>
        <p:spPr>
          <a:xfrm>
            <a:off x="6076200" y="4219770"/>
            <a:ext cx="1265400" cy="34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700">
                <a:solidFill>
                  <a:schemeClr val="lt1"/>
                </a:solidFill>
                <a:latin typeface="Lato"/>
                <a:ea typeface="Lato"/>
                <a:cs typeface="Lato"/>
                <a:sym typeface="Lato"/>
              </a:rPr>
              <a:t>(1, 2)</a:t>
            </a:r>
            <a:endParaRPr sz="1700">
              <a:solidFill>
                <a:schemeClr val="lt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62"/>
          <p:cNvSpPr txBox="1"/>
          <p:nvPr>
            <p:ph type="title"/>
          </p:nvPr>
        </p:nvSpPr>
        <p:spPr>
          <a:xfrm>
            <a:off x="276075" y="457200"/>
            <a:ext cx="50001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Trainable Parameters</a:t>
            </a:r>
            <a:endParaRPr/>
          </a:p>
        </p:txBody>
      </p:sp>
      <p:sp>
        <p:nvSpPr>
          <p:cNvPr id="558" name="Google Shape;558;p62"/>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59" name="Google Shape;559;p62"/>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Math (2b)</a:t>
            </a:r>
            <a:endParaRPr sz="800">
              <a:solidFill>
                <a:schemeClr val="lt1"/>
              </a:solidFill>
              <a:latin typeface="Lato"/>
              <a:ea typeface="Lato"/>
              <a:cs typeface="Lato"/>
              <a:sym typeface="Lato"/>
            </a:endParaRPr>
          </a:p>
        </p:txBody>
      </p:sp>
      <p:sp>
        <p:nvSpPr>
          <p:cNvPr id="560" name="Google Shape;560;p62"/>
          <p:cNvSpPr txBox="1"/>
          <p:nvPr>
            <p:ph idx="15" type="subTitle"/>
          </p:nvPr>
        </p:nvSpPr>
        <p:spPr>
          <a:xfrm>
            <a:off x="2489950" y="1325367"/>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02</a:t>
            </a:r>
            <a:endParaRPr>
              <a:latin typeface="Lato"/>
              <a:ea typeface="Lato"/>
              <a:cs typeface="Lato"/>
              <a:sym typeface="Lato"/>
            </a:endParaRPr>
          </a:p>
        </p:txBody>
      </p:sp>
      <p:sp>
        <p:nvSpPr>
          <p:cNvPr id="561" name="Google Shape;561;p62"/>
          <p:cNvSpPr txBox="1"/>
          <p:nvPr>
            <p:ph idx="14" type="subTitle"/>
          </p:nvPr>
        </p:nvSpPr>
        <p:spPr>
          <a:xfrm>
            <a:off x="279525" y="1325367"/>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01</a:t>
            </a:r>
            <a:endParaRPr>
              <a:latin typeface="Lato"/>
              <a:ea typeface="Lato"/>
              <a:cs typeface="Lato"/>
              <a:sym typeface="Lato"/>
            </a:endParaRPr>
          </a:p>
        </p:txBody>
      </p:sp>
      <p:sp>
        <p:nvSpPr>
          <p:cNvPr id="562" name="Google Shape;562;p62"/>
          <p:cNvSpPr txBox="1"/>
          <p:nvPr>
            <p:ph idx="16" type="subTitle"/>
          </p:nvPr>
        </p:nvSpPr>
        <p:spPr>
          <a:xfrm>
            <a:off x="4700375" y="1325367"/>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03</a:t>
            </a:r>
            <a:endParaRPr>
              <a:latin typeface="Lato"/>
              <a:ea typeface="Lato"/>
              <a:cs typeface="Lato"/>
              <a:sym typeface="Lato"/>
            </a:endParaRPr>
          </a:p>
        </p:txBody>
      </p:sp>
      <p:sp>
        <p:nvSpPr>
          <p:cNvPr id="563" name="Google Shape;563;p62"/>
          <p:cNvSpPr txBox="1"/>
          <p:nvPr>
            <p:ph idx="17" type="subTitle"/>
          </p:nvPr>
        </p:nvSpPr>
        <p:spPr>
          <a:xfrm>
            <a:off x="6910800" y="1325367"/>
            <a:ext cx="382500" cy="147600"/>
          </a:xfrm>
          <a:prstGeom prst="rect">
            <a:avLst/>
          </a:prstGeom>
        </p:spPr>
        <p:txBody>
          <a:bodyPr anchorCtr="0" anchor="b" bIns="0" lIns="0"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04</a:t>
            </a:r>
            <a:endParaRPr>
              <a:latin typeface="Lato"/>
              <a:ea typeface="Lato"/>
              <a:cs typeface="Lato"/>
              <a:sym typeface="Lato"/>
            </a:endParaRPr>
          </a:p>
        </p:txBody>
      </p:sp>
      <p:sp>
        <p:nvSpPr>
          <p:cNvPr id="564" name="Google Shape;564;p62"/>
          <p:cNvSpPr txBox="1"/>
          <p:nvPr>
            <p:ph idx="3" type="subTitle"/>
          </p:nvPr>
        </p:nvSpPr>
        <p:spPr>
          <a:xfrm>
            <a:off x="279528" y="1575466"/>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Patch Projector</a:t>
            </a:r>
            <a:endParaRPr/>
          </a:p>
        </p:txBody>
      </p:sp>
      <p:sp>
        <p:nvSpPr>
          <p:cNvPr id="565" name="Google Shape;565;p62"/>
          <p:cNvSpPr txBox="1"/>
          <p:nvPr>
            <p:ph idx="4" type="subTitle"/>
          </p:nvPr>
        </p:nvSpPr>
        <p:spPr>
          <a:xfrm>
            <a:off x="2489940" y="1575466"/>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Attention Pool</a:t>
            </a:r>
            <a:endParaRPr/>
          </a:p>
        </p:txBody>
      </p:sp>
      <p:sp>
        <p:nvSpPr>
          <p:cNvPr id="566" name="Google Shape;566;p62"/>
          <p:cNvSpPr txBox="1"/>
          <p:nvPr>
            <p:ph idx="5" type="subTitle"/>
          </p:nvPr>
        </p:nvSpPr>
        <p:spPr>
          <a:xfrm>
            <a:off x="4695138" y="1575466"/>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Multiple Attention Pools</a:t>
            </a:r>
            <a:endParaRPr/>
          </a:p>
        </p:txBody>
      </p:sp>
      <p:sp>
        <p:nvSpPr>
          <p:cNvPr id="567" name="Google Shape;567;p62"/>
          <p:cNvSpPr txBox="1"/>
          <p:nvPr>
            <p:ph idx="6" type="subTitle"/>
          </p:nvPr>
        </p:nvSpPr>
        <p:spPr>
          <a:xfrm>
            <a:off x="6900335" y="1575466"/>
            <a:ext cx="1970100" cy="193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Final Classifier</a:t>
            </a:r>
            <a:endParaRPr/>
          </a:p>
        </p:txBody>
      </p:sp>
      <p:sp>
        <p:nvSpPr>
          <p:cNvPr id="568" name="Google Shape;568;p62"/>
          <p:cNvSpPr txBox="1"/>
          <p:nvPr>
            <p:ph idx="7" type="body"/>
          </p:nvPr>
        </p:nvSpPr>
        <p:spPr>
          <a:xfrm>
            <a:off x="274950" y="1858804"/>
            <a:ext cx="1970100" cy="861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Four 1024-dimensional identified features from KimiaNet are passed through the patch projector to get a 512-dimensional patch-level embedding</a:t>
            </a:r>
            <a:endParaRPr/>
          </a:p>
        </p:txBody>
      </p:sp>
      <p:sp>
        <p:nvSpPr>
          <p:cNvPr id="569" name="Google Shape;569;p62"/>
          <p:cNvSpPr txBox="1"/>
          <p:nvPr>
            <p:ph idx="8" type="body"/>
          </p:nvPr>
        </p:nvSpPr>
        <p:spPr>
          <a:xfrm>
            <a:off x="2489940" y="1858804"/>
            <a:ext cx="1970100" cy="6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MLP that takes in 512-dimension embedding through one hidden layer of size 128 to output importance score</a:t>
            </a:r>
            <a:endParaRPr/>
          </a:p>
        </p:txBody>
      </p:sp>
      <p:sp>
        <p:nvSpPr>
          <p:cNvPr id="570" name="Google Shape;570;p62"/>
          <p:cNvSpPr txBox="1"/>
          <p:nvPr>
            <p:ph idx="9" type="body"/>
          </p:nvPr>
        </p:nvSpPr>
        <p:spPr>
          <a:xfrm>
            <a:off x="4704930" y="1858804"/>
            <a:ext cx="1970100" cy="684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We perform this attention pooling three times when we run the model, so we train three sets of parameters of the attention pooling</a:t>
            </a:r>
            <a:endParaRPr/>
          </a:p>
        </p:txBody>
      </p:sp>
      <p:sp>
        <p:nvSpPr>
          <p:cNvPr id="571" name="Google Shape;571;p62"/>
          <p:cNvSpPr txBox="1"/>
          <p:nvPr>
            <p:ph idx="13" type="body"/>
          </p:nvPr>
        </p:nvSpPr>
        <p:spPr>
          <a:xfrm>
            <a:off x="6900335" y="1858804"/>
            <a:ext cx="1970100" cy="50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Takes in the 512-dimension case level embedding and outputs probabilities for the two classes</a:t>
            </a:r>
            <a:endParaRPr/>
          </a:p>
        </p:txBody>
      </p:sp>
      <p:cxnSp>
        <p:nvCxnSpPr>
          <p:cNvPr id="572" name="Google Shape;572;p62"/>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pic>
        <p:nvPicPr>
          <p:cNvPr id="573" name="Google Shape;573;p62"/>
          <p:cNvPicPr preferRelativeResize="0"/>
          <p:nvPr/>
        </p:nvPicPr>
        <p:blipFill rotWithShape="1">
          <a:blip r:embed="rId3">
            <a:alphaModFix/>
          </a:blip>
          <a:srcRect b="31595" l="0" r="0" t="22679"/>
          <a:stretch/>
        </p:blipFill>
        <p:spPr>
          <a:xfrm>
            <a:off x="2135800" y="3907405"/>
            <a:ext cx="5511650" cy="265570"/>
          </a:xfrm>
          <a:prstGeom prst="rect">
            <a:avLst/>
          </a:prstGeom>
          <a:noFill/>
          <a:ln>
            <a:noFill/>
          </a:ln>
        </p:spPr>
      </p:pic>
      <p:sp>
        <p:nvSpPr>
          <p:cNvPr id="574" name="Google Shape;574;p62"/>
          <p:cNvSpPr txBox="1"/>
          <p:nvPr/>
        </p:nvSpPr>
        <p:spPr>
          <a:xfrm>
            <a:off x="553200" y="920088"/>
            <a:ext cx="8037600" cy="3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chemeClr val="lt1"/>
                </a:solidFill>
                <a:latin typeface="Playfair Display"/>
                <a:ea typeface="Playfair Display"/>
                <a:cs typeface="Playfair Display"/>
                <a:sym typeface="Playfair Display"/>
              </a:rPr>
              <a:t>Let F = # KimiaNet Features (1024), D = Embedding Dimensions (512), H = Hidden Layer Size (128), C = # Classes (2)</a:t>
            </a:r>
            <a:endParaRPr i="1" sz="1200">
              <a:solidFill>
                <a:schemeClr val="lt1"/>
              </a:solidFill>
              <a:latin typeface="Playfair Display"/>
              <a:ea typeface="Playfair Display"/>
              <a:cs typeface="Playfair Display"/>
              <a:sym typeface="Playfair Display"/>
            </a:endParaRPr>
          </a:p>
        </p:txBody>
      </p:sp>
      <p:pic>
        <p:nvPicPr>
          <p:cNvPr id="575" name="Google Shape;575;p62" title="Screenshot 2026-02-01 at 21.29.01.png"/>
          <p:cNvPicPr preferRelativeResize="0"/>
          <p:nvPr/>
        </p:nvPicPr>
        <p:blipFill>
          <a:blip r:embed="rId4">
            <a:alphaModFix/>
          </a:blip>
          <a:stretch>
            <a:fillRect/>
          </a:stretch>
        </p:blipFill>
        <p:spPr>
          <a:xfrm>
            <a:off x="2489950" y="2633220"/>
            <a:ext cx="1970100" cy="544229"/>
          </a:xfrm>
          <a:prstGeom prst="rect">
            <a:avLst/>
          </a:prstGeom>
          <a:noFill/>
          <a:ln>
            <a:noFill/>
          </a:ln>
        </p:spPr>
      </p:pic>
      <p:pic>
        <p:nvPicPr>
          <p:cNvPr id="576" name="Google Shape;576;p62" title="Screenshot 2026-02-01 at 21.29.43.png"/>
          <p:cNvPicPr preferRelativeResize="0"/>
          <p:nvPr/>
        </p:nvPicPr>
        <p:blipFill>
          <a:blip r:embed="rId5">
            <a:alphaModFix/>
          </a:blip>
          <a:stretch>
            <a:fillRect/>
          </a:stretch>
        </p:blipFill>
        <p:spPr>
          <a:xfrm>
            <a:off x="538899" y="2809838"/>
            <a:ext cx="1442212" cy="460825"/>
          </a:xfrm>
          <a:prstGeom prst="rect">
            <a:avLst/>
          </a:prstGeom>
          <a:noFill/>
          <a:ln>
            <a:noFill/>
          </a:ln>
        </p:spPr>
      </p:pic>
      <p:pic>
        <p:nvPicPr>
          <p:cNvPr id="577" name="Google Shape;577;p62" title="Screenshot 2026-02-01 at 21.34.35.png"/>
          <p:cNvPicPr preferRelativeResize="0"/>
          <p:nvPr/>
        </p:nvPicPr>
        <p:blipFill>
          <a:blip r:embed="rId6">
            <a:alphaModFix/>
          </a:blip>
          <a:stretch>
            <a:fillRect/>
          </a:stretch>
        </p:blipFill>
        <p:spPr>
          <a:xfrm>
            <a:off x="4704940" y="2686254"/>
            <a:ext cx="1905000" cy="438150"/>
          </a:xfrm>
          <a:prstGeom prst="rect">
            <a:avLst/>
          </a:prstGeom>
          <a:noFill/>
          <a:ln>
            <a:noFill/>
          </a:ln>
        </p:spPr>
      </p:pic>
      <p:pic>
        <p:nvPicPr>
          <p:cNvPr id="578" name="Google Shape;578;p62" title="Screenshot 2026-02-01 at 21.37.04.png"/>
          <p:cNvPicPr preferRelativeResize="0"/>
          <p:nvPr/>
        </p:nvPicPr>
        <p:blipFill>
          <a:blip r:embed="rId7">
            <a:alphaModFix/>
          </a:blip>
          <a:stretch>
            <a:fillRect/>
          </a:stretch>
        </p:blipFill>
        <p:spPr>
          <a:xfrm>
            <a:off x="7183700" y="2457725"/>
            <a:ext cx="1104052" cy="387900"/>
          </a:xfrm>
          <a:prstGeom prst="rect">
            <a:avLst/>
          </a:prstGeom>
          <a:noFill/>
          <a:ln>
            <a:noFill/>
          </a:ln>
        </p:spPr>
      </p:pic>
      <p:sp>
        <p:nvSpPr>
          <p:cNvPr id="579" name="Google Shape;579;p62"/>
          <p:cNvSpPr txBox="1"/>
          <p:nvPr/>
        </p:nvSpPr>
        <p:spPr>
          <a:xfrm>
            <a:off x="330100" y="3411125"/>
            <a:ext cx="1905000" cy="38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Playfair Display"/>
                <a:ea typeface="Playfair Display"/>
                <a:cs typeface="Playfair Display"/>
                <a:sym typeface="Playfair Display"/>
              </a:rPr>
              <a:t>= 2,097,664</a:t>
            </a:r>
            <a:endParaRPr sz="2000">
              <a:solidFill>
                <a:schemeClr val="lt1"/>
              </a:solidFill>
              <a:latin typeface="Playfair Display"/>
              <a:ea typeface="Playfair Display"/>
              <a:cs typeface="Playfair Display"/>
              <a:sym typeface="Playfair Display"/>
            </a:endParaRPr>
          </a:p>
        </p:txBody>
      </p:sp>
      <p:sp>
        <p:nvSpPr>
          <p:cNvPr id="580" name="Google Shape;580;p62"/>
          <p:cNvSpPr txBox="1"/>
          <p:nvPr/>
        </p:nvSpPr>
        <p:spPr>
          <a:xfrm>
            <a:off x="4737475" y="3411125"/>
            <a:ext cx="1905000" cy="38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Playfair Display"/>
                <a:ea typeface="Playfair Display"/>
                <a:cs typeface="Playfair Display"/>
                <a:sym typeface="Playfair Display"/>
              </a:rPr>
              <a:t>= 197,379</a:t>
            </a:r>
            <a:endParaRPr sz="2000">
              <a:solidFill>
                <a:schemeClr val="lt1"/>
              </a:solidFill>
              <a:latin typeface="Playfair Display"/>
              <a:ea typeface="Playfair Display"/>
              <a:cs typeface="Playfair Display"/>
              <a:sym typeface="Playfair Display"/>
            </a:endParaRPr>
          </a:p>
        </p:txBody>
      </p:sp>
      <p:sp>
        <p:nvSpPr>
          <p:cNvPr id="581" name="Google Shape;581;p62"/>
          <p:cNvSpPr txBox="1"/>
          <p:nvPr/>
        </p:nvSpPr>
        <p:spPr>
          <a:xfrm>
            <a:off x="6783225" y="3411125"/>
            <a:ext cx="1905000" cy="38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Playfair Display"/>
                <a:ea typeface="Playfair Display"/>
                <a:cs typeface="Playfair Display"/>
                <a:sym typeface="Playfair Display"/>
              </a:rPr>
              <a:t>= 1,026</a:t>
            </a:r>
            <a:endParaRPr sz="2000">
              <a:solidFill>
                <a:schemeClr val="lt1"/>
              </a:solidFill>
              <a:latin typeface="Playfair Display"/>
              <a:ea typeface="Playfair Display"/>
              <a:cs typeface="Playfair Display"/>
              <a:sym typeface="Playfair Display"/>
            </a:endParaRPr>
          </a:p>
        </p:txBody>
      </p:sp>
      <p:sp>
        <p:nvSpPr>
          <p:cNvPr id="582" name="Google Shape;582;p62"/>
          <p:cNvSpPr txBox="1"/>
          <p:nvPr/>
        </p:nvSpPr>
        <p:spPr>
          <a:xfrm>
            <a:off x="3619500" y="4172975"/>
            <a:ext cx="1905000" cy="38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Playfair Display"/>
                <a:ea typeface="Playfair Display"/>
                <a:cs typeface="Playfair Display"/>
                <a:sym typeface="Playfair Display"/>
              </a:rPr>
              <a:t>= 2,296,069</a:t>
            </a:r>
            <a:endParaRPr sz="2000">
              <a:solidFill>
                <a:schemeClr val="lt1"/>
              </a:solidFill>
              <a:latin typeface="Playfair Display"/>
              <a:ea typeface="Playfair Display"/>
              <a:cs typeface="Playfair Display"/>
              <a:sym typeface="Playfair Displa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63"/>
          <p:cNvSpPr txBox="1"/>
          <p:nvPr>
            <p:ph type="title"/>
          </p:nvPr>
        </p:nvSpPr>
        <p:spPr>
          <a:xfrm>
            <a:off x="276075" y="457200"/>
            <a:ext cx="70323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Loss Function</a:t>
            </a:r>
            <a:endParaRPr/>
          </a:p>
        </p:txBody>
      </p:sp>
      <p:sp>
        <p:nvSpPr>
          <p:cNvPr id="588" name="Google Shape;588;p63"/>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Math (2c, 2e) </a:t>
            </a:r>
            <a:endParaRPr sz="800">
              <a:solidFill>
                <a:schemeClr val="lt1"/>
              </a:solidFill>
              <a:latin typeface="Lato"/>
              <a:ea typeface="Lato"/>
              <a:cs typeface="Lato"/>
              <a:sym typeface="Lato"/>
            </a:endParaRPr>
          </a:p>
        </p:txBody>
      </p:sp>
      <p:sp>
        <p:nvSpPr>
          <p:cNvPr id="589" name="Google Shape;589;p63"/>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590" name="Google Shape;590;p63"/>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591" name="Google Shape;591;p63"/>
          <p:cNvSpPr/>
          <p:nvPr/>
        </p:nvSpPr>
        <p:spPr>
          <a:xfrm rot="-5400000">
            <a:off x="4319100" y="1307625"/>
            <a:ext cx="411900" cy="3087900"/>
          </a:xfrm>
          <a:prstGeom prst="leftBrace">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592" name="Google Shape;592;p63"/>
          <p:cNvSpPr/>
          <p:nvPr/>
        </p:nvSpPr>
        <p:spPr>
          <a:xfrm rot="-5400000">
            <a:off x="7203150" y="2071125"/>
            <a:ext cx="411900" cy="1560900"/>
          </a:xfrm>
          <a:prstGeom prst="leftBrace">
            <a:avLst>
              <a:gd fmla="val 50000" name="adj1"/>
              <a:gd fmla="val 50000" name="adj2"/>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593" name="Google Shape;593;p63"/>
          <p:cNvSpPr txBox="1"/>
          <p:nvPr/>
        </p:nvSpPr>
        <p:spPr>
          <a:xfrm>
            <a:off x="3403950" y="3057525"/>
            <a:ext cx="2585400" cy="4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ato"/>
                <a:ea typeface="Lato"/>
                <a:cs typeface="Lato"/>
                <a:sym typeface="Lato"/>
              </a:rPr>
              <a:t>Weighted Cross-Entropy Loss</a:t>
            </a:r>
            <a:endParaRPr sz="1200">
              <a:solidFill>
                <a:schemeClr val="lt1"/>
              </a:solidFill>
              <a:latin typeface="Lato"/>
              <a:ea typeface="Lato"/>
              <a:cs typeface="Lato"/>
              <a:sym typeface="Lato"/>
            </a:endParaRPr>
          </a:p>
        </p:txBody>
      </p:sp>
      <p:sp>
        <p:nvSpPr>
          <p:cNvPr id="594" name="Google Shape;594;p63"/>
          <p:cNvSpPr txBox="1"/>
          <p:nvPr/>
        </p:nvSpPr>
        <p:spPr>
          <a:xfrm>
            <a:off x="6708900" y="3057525"/>
            <a:ext cx="1560900" cy="4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Lato"/>
                <a:ea typeface="Lato"/>
                <a:cs typeface="Lato"/>
                <a:sym typeface="Lato"/>
              </a:rPr>
              <a:t>L2 Regularization</a:t>
            </a:r>
            <a:endParaRPr sz="1200">
              <a:solidFill>
                <a:schemeClr val="lt1"/>
              </a:solidFill>
              <a:latin typeface="Lato"/>
              <a:ea typeface="Lato"/>
              <a:cs typeface="Lato"/>
              <a:sym typeface="Lato"/>
            </a:endParaRPr>
          </a:p>
        </p:txBody>
      </p:sp>
      <p:sp>
        <p:nvSpPr>
          <p:cNvPr id="595" name="Google Shape;595;p63"/>
          <p:cNvSpPr txBox="1"/>
          <p:nvPr/>
        </p:nvSpPr>
        <p:spPr>
          <a:xfrm>
            <a:off x="1107575" y="939750"/>
            <a:ext cx="6628800" cy="38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chemeClr val="lt1"/>
                </a:solidFill>
                <a:latin typeface="Playfair Display"/>
                <a:ea typeface="Playfair Display"/>
                <a:cs typeface="Playfair Display"/>
                <a:sym typeface="Playfair Display"/>
              </a:rPr>
              <a:t>Penalizes confident misclassification, emphasizes rare classes via weighting, and discourages overfitting via weight decay.</a:t>
            </a:r>
            <a:endParaRPr i="1" sz="1200">
              <a:solidFill>
                <a:schemeClr val="lt1"/>
              </a:solidFill>
              <a:latin typeface="Playfair Display"/>
              <a:ea typeface="Playfair Display"/>
              <a:cs typeface="Playfair Display"/>
              <a:sym typeface="Playfair Display"/>
            </a:endParaRPr>
          </a:p>
        </p:txBody>
      </p:sp>
      <p:sp>
        <p:nvSpPr>
          <p:cNvPr id="596" name="Google Shape;596;p63"/>
          <p:cNvSpPr txBox="1"/>
          <p:nvPr/>
        </p:nvSpPr>
        <p:spPr>
          <a:xfrm>
            <a:off x="285000" y="3432625"/>
            <a:ext cx="3222300" cy="10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Playfair Display"/>
                <a:ea typeface="Playfair Display"/>
                <a:cs typeface="Playfair Display"/>
                <a:sym typeface="Playfair Display"/>
              </a:rPr>
              <a:t>Training Details:</a:t>
            </a:r>
            <a:endParaRPr sz="1200">
              <a:solidFill>
                <a:schemeClr val="lt1"/>
              </a:solidFill>
              <a:latin typeface="Playfair Display"/>
              <a:ea typeface="Playfair Display"/>
              <a:cs typeface="Playfair Display"/>
              <a:sym typeface="Playfair Display"/>
            </a:endParaRPr>
          </a:p>
          <a:p>
            <a:pPr indent="-304800" lvl="0" marL="457200" rtl="0" algn="l">
              <a:spcBef>
                <a:spcPts val="0"/>
              </a:spcBef>
              <a:spcAft>
                <a:spcPts val="0"/>
              </a:spcAft>
              <a:buClr>
                <a:schemeClr val="lt1"/>
              </a:buClr>
              <a:buSzPts val="1200"/>
              <a:buFont typeface="Playfair Display"/>
              <a:buChar char="●"/>
            </a:pPr>
            <a:r>
              <a:rPr lang="en" sz="1200">
                <a:solidFill>
                  <a:schemeClr val="lt1"/>
                </a:solidFill>
                <a:latin typeface="Playfair Display"/>
                <a:ea typeface="Playfair Display"/>
                <a:cs typeface="Playfair Display"/>
                <a:sym typeface="Playfair Display"/>
              </a:rPr>
              <a:t>Optimizer: Adam</a:t>
            </a:r>
            <a:endParaRPr sz="1200">
              <a:solidFill>
                <a:schemeClr val="lt1"/>
              </a:solidFill>
              <a:latin typeface="Playfair Display"/>
              <a:ea typeface="Playfair Display"/>
              <a:cs typeface="Playfair Display"/>
              <a:sym typeface="Playfair Display"/>
            </a:endParaRPr>
          </a:p>
          <a:p>
            <a:pPr indent="-304800" lvl="0" marL="457200" rtl="0" algn="l">
              <a:spcBef>
                <a:spcPts val="0"/>
              </a:spcBef>
              <a:spcAft>
                <a:spcPts val="0"/>
              </a:spcAft>
              <a:buClr>
                <a:schemeClr val="lt1"/>
              </a:buClr>
              <a:buSzPts val="1200"/>
              <a:buFont typeface="Playfair Display"/>
              <a:buChar char="●"/>
            </a:pPr>
            <a:r>
              <a:rPr lang="en" sz="1200">
                <a:solidFill>
                  <a:schemeClr val="lt1"/>
                </a:solidFill>
                <a:latin typeface="Playfair Display"/>
                <a:ea typeface="Playfair Display"/>
                <a:cs typeface="Playfair Display"/>
                <a:sym typeface="Playfair Display"/>
              </a:rPr>
              <a:t>Alphas | Benign: 2.5, High-Grade: 1</a:t>
            </a:r>
            <a:endParaRPr sz="1200">
              <a:solidFill>
                <a:schemeClr val="lt1"/>
              </a:solidFill>
              <a:latin typeface="Playfair Display"/>
              <a:ea typeface="Playfair Display"/>
              <a:cs typeface="Playfair Display"/>
              <a:sym typeface="Playfair Display"/>
            </a:endParaRPr>
          </a:p>
          <a:p>
            <a:pPr indent="-304800" lvl="0" marL="457200" rtl="0" algn="l">
              <a:spcBef>
                <a:spcPts val="0"/>
              </a:spcBef>
              <a:spcAft>
                <a:spcPts val="0"/>
              </a:spcAft>
              <a:buClr>
                <a:schemeClr val="lt1"/>
              </a:buClr>
              <a:buSzPts val="1200"/>
              <a:buFont typeface="Playfair Display"/>
              <a:buChar char="●"/>
            </a:pPr>
            <a:r>
              <a:rPr lang="en" sz="1200">
                <a:solidFill>
                  <a:schemeClr val="lt1"/>
                </a:solidFill>
                <a:latin typeface="Playfair Display"/>
                <a:ea typeface="Playfair Display"/>
                <a:cs typeface="Playfair Display"/>
                <a:sym typeface="Playfair Display"/>
              </a:rPr>
              <a:t>Lambda: 2e-4</a:t>
            </a:r>
            <a:endParaRPr sz="1200">
              <a:solidFill>
                <a:schemeClr val="lt1"/>
              </a:solidFill>
              <a:latin typeface="Playfair Display"/>
              <a:ea typeface="Playfair Display"/>
              <a:cs typeface="Playfair Display"/>
              <a:sym typeface="Playfair Display"/>
            </a:endParaRPr>
          </a:p>
        </p:txBody>
      </p:sp>
      <p:pic>
        <p:nvPicPr>
          <p:cNvPr id="597" name="Google Shape;597;p63" title="Screenshot 2026-02-02 at 02.01.54.png"/>
          <p:cNvPicPr preferRelativeResize="0"/>
          <p:nvPr/>
        </p:nvPicPr>
        <p:blipFill rotWithShape="1">
          <a:blip r:embed="rId3">
            <a:alphaModFix/>
          </a:blip>
          <a:srcRect b="9690" l="0" r="0" t="13036"/>
          <a:stretch/>
        </p:blipFill>
        <p:spPr>
          <a:xfrm>
            <a:off x="967600" y="1653089"/>
            <a:ext cx="7458075" cy="971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64"/>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Training / Optimization + Prediction</a:t>
            </a:r>
            <a:endParaRPr/>
          </a:p>
        </p:txBody>
      </p:sp>
      <p:sp>
        <p:nvSpPr>
          <p:cNvPr id="603" name="Google Shape;603;p64"/>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Math (2e)</a:t>
            </a:r>
            <a:endParaRPr sz="800">
              <a:solidFill>
                <a:schemeClr val="lt1"/>
              </a:solidFill>
              <a:latin typeface="Lato"/>
              <a:ea typeface="Lato"/>
              <a:cs typeface="Lato"/>
              <a:sym typeface="Lato"/>
            </a:endParaRPr>
          </a:p>
        </p:txBody>
      </p:sp>
      <p:sp>
        <p:nvSpPr>
          <p:cNvPr id="604" name="Google Shape;604;p64"/>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cxnSp>
        <p:nvCxnSpPr>
          <p:cNvPr id="605" name="Google Shape;605;p64"/>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606" name="Google Shape;606;p64"/>
          <p:cNvSpPr txBox="1"/>
          <p:nvPr/>
        </p:nvSpPr>
        <p:spPr>
          <a:xfrm>
            <a:off x="1057675" y="1012013"/>
            <a:ext cx="2173200" cy="30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Training</a:t>
            </a:r>
            <a:endParaRPr>
              <a:solidFill>
                <a:schemeClr val="lt1"/>
              </a:solidFill>
              <a:latin typeface="Lato"/>
              <a:ea typeface="Lato"/>
              <a:cs typeface="Lato"/>
              <a:sym typeface="Lato"/>
            </a:endParaRPr>
          </a:p>
        </p:txBody>
      </p:sp>
      <p:sp>
        <p:nvSpPr>
          <p:cNvPr id="607" name="Google Shape;607;p64"/>
          <p:cNvSpPr txBox="1"/>
          <p:nvPr/>
        </p:nvSpPr>
        <p:spPr>
          <a:xfrm>
            <a:off x="5622300" y="1012025"/>
            <a:ext cx="2173200" cy="30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ato"/>
                <a:ea typeface="Lato"/>
                <a:cs typeface="Lato"/>
                <a:sym typeface="Lato"/>
              </a:rPr>
              <a:t>Prediction</a:t>
            </a:r>
            <a:endParaRPr>
              <a:solidFill>
                <a:schemeClr val="lt1"/>
              </a:solidFill>
              <a:latin typeface="Lato"/>
              <a:ea typeface="Lato"/>
              <a:cs typeface="Lato"/>
              <a:sym typeface="Lato"/>
            </a:endParaRPr>
          </a:p>
        </p:txBody>
      </p:sp>
      <p:sp>
        <p:nvSpPr>
          <p:cNvPr id="608" name="Google Shape;608;p64"/>
          <p:cNvSpPr txBox="1"/>
          <p:nvPr/>
        </p:nvSpPr>
        <p:spPr>
          <a:xfrm>
            <a:off x="1057675" y="2095795"/>
            <a:ext cx="2173200" cy="30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chemeClr val="lt1"/>
                </a:solidFill>
                <a:latin typeface="Playfair Display"/>
                <a:ea typeface="Playfair Display"/>
                <a:cs typeface="Playfair Display"/>
                <a:sym typeface="Playfair Display"/>
              </a:rPr>
              <a:t>Forward Pass - Obtain Logits</a:t>
            </a:r>
            <a:endParaRPr i="1" sz="1200">
              <a:solidFill>
                <a:schemeClr val="lt1"/>
              </a:solidFill>
              <a:latin typeface="Playfair Display"/>
              <a:ea typeface="Playfair Display"/>
              <a:cs typeface="Playfair Display"/>
              <a:sym typeface="Playfair Display"/>
            </a:endParaRPr>
          </a:p>
        </p:txBody>
      </p:sp>
      <p:sp>
        <p:nvSpPr>
          <p:cNvPr id="609" name="Google Shape;609;p64"/>
          <p:cNvSpPr txBox="1"/>
          <p:nvPr/>
        </p:nvSpPr>
        <p:spPr>
          <a:xfrm>
            <a:off x="1088125" y="3040838"/>
            <a:ext cx="2112300" cy="30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sz="1200">
                <a:solidFill>
                  <a:schemeClr val="lt1"/>
                </a:solidFill>
                <a:latin typeface="Playfair Display"/>
                <a:ea typeface="Playfair Display"/>
                <a:cs typeface="Playfair Display"/>
                <a:sym typeface="Playfair Display"/>
              </a:rPr>
              <a:t>Backward</a:t>
            </a:r>
            <a:r>
              <a:rPr i="1" lang="en" sz="1200">
                <a:solidFill>
                  <a:schemeClr val="lt1"/>
                </a:solidFill>
                <a:latin typeface="Playfair Display"/>
                <a:ea typeface="Playfair Display"/>
                <a:cs typeface="Playfair Display"/>
                <a:sym typeface="Playfair Display"/>
              </a:rPr>
              <a:t> Pass - Update Weights</a:t>
            </a:r>
            <a:endParaRPr i="1" sz="1200">
              <a:solidFill>
                <a:schemeClr val="lt1"/>
              </a:solidFill>
              <a:latin typeface="Playfair Display"/>
              <a:ea typeface="Playfair Display"/>
              <a:cs typeface="Playfair Display"/>
              <a:sym typeface="Playfair Display"/>
            </a:endParaRPr>
          </a:p>
        </p:txBody>
      </p:sp>
      <p:sp>
        <p:nvSpPr>
          <p:cNvPr id="610" name="Google Shape;610;p64"/>
          <p:cNvSpPr txBox="1"/>
          <p:nvPr/>
        </p:nvSpPr>
        <p:spPr>
          <a:xfrm>
            <a:off x="512575" y="3509850"/>
            <a:ext cx="3263400" cy="657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Playfair Display"/>
              <a:buChar char="●"/>
            </a:pPr>
            <a:r>
              <a:rPr lang="en" sz="1200">
                <a:solidFill>
                  <a:schemeClr val="lt1"/>
                </a:solidFill>
                <a:latin typeface="Playfair Display"/>
                <a:ea typeface="Playfair Display"/>
                <a:cs typeface="Playfair Display"/>
                <a:sym typeface="Playfair Display"/>
              </a:rPr>
              <a:t>Gradients flow </a:t>
            </a:r>
            <a:r>
              <a:rPr lang="en" sz="1200">
                <a:solidFill>
                  <a:schemeClr val="lt1"/>
                </a:solidFill>
                <a:latin typeface="Playfair Display"/>
                <a:ea typeface="Playfair Display"/>
                <a:cs typeface="Playfair Display"/>
                <a:sym typeface="Playfair Display"/>
              </a:rPr>
              <a:t>through</a:t>
            </a:r>
            <a:r>
              <a:rPr lang="en" sz="1200">
                <a:solidFill>
                  <a:schemeClr val="lt1"/>
                </a:solidFill>
                <a:latin typeface="Playfair Display"/>
                <a:ea typeface="Playfair Display"/>
                <a:cs typeface="Playfair Display"/>
                <a:sym typeface="Playfair Display"/>
              </a:rPr>
              <a:t> attention, projector</a:t>
            </a:r>
            <a:endParaRPr sz="1200">
              <a:solidFill>
                <a:schemeClr val="lt1"/>
              </a:solidFill>
              <a:latin typeface="Playfair Display"/>
              <a:ea typeface="Playfair Display"/>
              <a:cs typeface="Playfair Display"/>
              <a:sym typeface="Playfair Display"/>
            </a:endParaRPr>
          </a:p>
          <a:p>
            <a:pPr indent="-304800" lvl="0" marL="457200" rtl="0" algn="l">
              <a:spcBef>
                <a:spcPts val="0"/>
              </a:spcBef>
              <a:spcAft>
                <a:spcPts val="0"/>
              </a:spcAft>
              <a:buClr>
                <a:schemeClr val="lt1"/>
              </a:buClr>
              <a:buSzPts val="1200"/>
              <a:buFont typeface="Playfair Display"/>
              <a:buChar char="●"/>
            </a:pPr>
            <a:r>
              <a:rPr lang="en" sz="1200">
                <a:solidFill>
                  <a:schemeClr val="lt1"/>
                </a:solidFill>
                <a:latin typeface="Playfair Display"/>
                <a:ea typeface="Playfair Display"/>
                <a:cs typeface="Playfair Display"/>
                <a:sym typeface="Playfair Display"/>
              </a:rPr>
              <a:t>Stops at frozen KimiaNet/DenseNet</a:t>
            </a:r>
            <a:endParaRPr sz="1200">
              <a:solidFill>
                <a:schemeClr val="lt1"/>
              </a:solidFill>
              <a:latin typeface="Playfair Display"/>
              <a:ea typeface="Playfair Display"/>
              <a:cs typeface="Playfair Display"/>
              <a:sym typeface="Playfair Display"/>
            </a:endParaRPr>
          </a:p>
        </p:txBody>
      </p:sp>
      <p:pic>
        <p:nvPicPr>
          <p:cNvPr id="611" name="Google Shape;611;p64" title="Screenshot 2026-02-02 at 00.47.07.png"/>
          <p:cNvPicPr preferRelativeResize="0"/>
          <p:nvPr/>
        </p:nvPicPr>
        <p:blipFill>
          <a:blip r:embed="rId3">
            <a:alphaModFix/>
          </a:blip>
          <a:stretch>
            <a:fillRect/>
          </a:stretch>
        </p:blipFill>
        <p:spPr>
          <a:xfrm>
            <a:off x="1144162" y="2462200"/>
            <a:ext cx="2000250" cy="514350"/>
          </a:xfrm>
          <a:prstGeom prst="rect">
            <a:avLst/>
          </a:prstGeom>
          <a:noFill/>
          <a:ln>
            <a:noFill/>
          </a:ln>
        </p:spPr>
      </p:pic>
      <p:sp>
        <p:nvSpPr>
          <p:cNvPr id="612" name="Google Shape;612;p64"/>
          <p:cNvSpPr txBox="1"/>
          <p:nvPr/>
        </p:nvSpPr>
        <p:spPr>
          <a:xfrm>
            <a:off x="5077200" y="3509850"/>
            <a:ext cx="3263400" cy="657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lt1"/>
              </a:buClr>
              <a:buSzPts val="1200"/>
              <a:buFont typeface="Playfair Display"/>
              <a:buChar char="●"/>
            </a:pPr>
            <a:r>
              <a:rPr lang="en" sz="1200">
                <a:solidFill>
                  <a:schemeClr val="lt1"/>
                </a:solidFill>
                <a:latin typeface="Playfair Display"/>
                <a:ea typeface="Playfair Display"/>
                <a:cs typeface="Playfair Display"/>
                <a:sym typeface="Playfair Display"/>
              </a:rPr>
              <a:t>Disable dropout during prediction</a:t>
            </a:r>
            <a:endParaRPr sz="1200">
              <a:solidFill>
                <a:schemeClr val="lt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200">
              <a:solidFill>
                <a:schemeClr val="lt1"/>
              </a:solidFill>
              <a:latin typeface="Playfair Display"/>
              <a:ea typeface="Playfair Display"/>
              <a:cs typeface="Playfair Display"/>
              <a:sym typeface="Playfair Display"/>
            </a:endParaRPr>
          </a:p>
        </p:txBody>
      </p:sp>
      <p:pic>
        <p:nvPicPr>
          <p:cNvPr id="613" name="Google Shape;613;p64" title="Screenshot 2026-02-02 at 02.08.53.png"/>
          <p:cNvPicPr preferRelativeResize="0"/>
          <p:nvPr/>
        </p:nvPicPr>
        <p:blipFill>
          <a:blip r:embed="rId4">
            <a:alphaModFix/>
          </a:blip>
          <a:stretch>
            <a:fillRect/>
          </a:stretch>
        </p:blipFill>
        <p:spPr>
          <a:xfrm>
            <a:off x="1401325" y="1481050"/>
            <a:ext cx="1485900" cy="581025"/>
          </a:xfrm>
          <a:prstGeom prst="rect">
            <a:avLst/>
          </a:prstGeom>
          <a:noFill/>
          <a:ln>
            <a:noFill/>
          </a:ln>
        </p:spPr>
      </p:pic>
      <p:pic>
        <p:nvPicPr>
          <p:cNvPr id="614" name="Google Shape;614;p64" title="Screenshot 2026-02-02 at 02.09.08.png"/>
          <p:cNvPicPr preferRelativeResize="0"/>
          <p:nvPr/>
        </p:nvPicPr>
        <p:blipFill>
          <a:blip r:embed="rId5">
            <a:alphaModFix/>
          </a:blip>
          <a:stretch>
            <a:fillRect/>
          </a:stretch>
        </p:blipFill>
        <p:spPr>
          <a:xfrm>
            <a:off x="4936750" y="2076213"/>
            <a:ext cx="3544291" cy="671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65"/>
          <p:cNvSpPr txBox="1"/>
          <p:nvPr>
            <p:ph type="title"/>
          </p:nvPr>
        </p:nvSpPr>
        <p:spPr>
          <a:xfrm>
            <a:off x="276075" y="457200"/>
            <a:ext cx="81918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Limitations in Code</a:t>
            </a:r>
            <a:endParaRPr/>
          </a:p>
        </p:txBody>
      </p:sp>
      <p:sp>
        <p:nvSpPr>
          <p:cNvPr id="620" name="Google Shape;620;p65"/>
          <p:cNvSpPr txBox="1"/>
          <p:nvPr/>
        </p:nvSpPr>
        <p:spPr>
          <a:xfrm>
            <a:off x="284700" y="285300"/>
            <a:ext cx="2628900" cy="12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sz="800">
                <a:solidFill>
                  <a:schemeClr val="lt1"/>
                </a:solidFill>
                <a:latin typeface="Lato"/>
                <a:ea typeface="Lato"/>
                <a:cs typeface="Lato"/>
                <a:sym typeface="Lato"/>
              </a:rPr>
              <a:t>Code Analysis</a:t>
            </a:r>
            <a:endParaRPr sz="800">
              <a:solidFill>
                <a:schemeClr val="lt1"/>
              </a:solidFill>
              <a:latin typeface="Lato"/>
              <a:ea typeface="Lato"/>
              <a:cs typeface="Lato"/>
              <a:sym typeface="Lato"/>
            </a:endParaRPr>
          </a:p>
        </p:txBody>
      </p:sp>
      <p:cxnSp>
        <p:nvCxnSpPr>
          <p:cNvPr id="621" name="Google Shape;621;p65"/>
          <p:cNvCxnSpPr/>
          <p:nvPr/>
        </p:nvCxnSpPr>
        <p:spPr>
          <a:xfrm rot="10800000">
            <a:off x="285000" y="4607525"/>
            <a:ext cx="8574000" cy="0"/>
          </a:xfrm>
          <a:prstGeom prst="straightConnector1">
            <a:avLst/>
          </a:prstGeom>
          <a:noFill/>
          <a:ln cap="flat" cmpd="sng" w="9525">
            <a:solidFill>
              <a:schemeClr val="lt2"/>
            </a:solidFill>
            <a:prstDash val="solid"/>
            <a:round/>
            <a:headEnd len="med" w="med" type="none"/>
            <a:tailEnd len="med" w="med" type="none"/>
          </a:ln>
        </p:spPr>
      </p:cxnSp>
      <p:sp>
        <p:nvSpPr>
          <p:cNvPr id="622" name="Google Shape;622;p65"/>
          <p:cNvSpPr txBox="1"/>
          <p:nvPr>
            <p:ph idx="12" type="sldNum"/>
          </p:nvPr>
        </p:nvSpPr>
        <p:spPr>
          <a:xfrm>
            <a:off x="8656458" y="4815950"/>
            <a:ext cx="336000" cy="183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23" name="Google Shape;623;p65"/>
          <p:cNvSpPr txBox="1"/>
          <p:nvPr>
            <p:ph idx="9" type="body"/>
          </p:nvPr>
        </p:nvSpPr>
        <p:spPr>
          <a:xfrm>
            <a:off x="473349" y="1895400"/>
            <a:ext cx="3600600" cy="1454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The current method gives each patch only one importance score, so the method is limited in terms of capturing more complex patterns and context from other patches nearby. Replacing it  with a more complex method may allow for more deep analysis. </a:t>
            </a:r>
            <a:endParaRPr sz="1400"/>
          </a:p>
        </p:txBody>
      </p:sp>
      <p:sp>
        <p:nvSpPr>
          <p:cNvPr id="624" name="Google Shape;624;p65"/>
          <p:cNvSpPr txBox="1"/>
          <p:nvPr>
            <p:ph idx="7" type="body"/>
          </p:nvPr>
        </p:nvSpPr>
        <p:spPr>
          <a:xfrm>
            <a:off x="4636945" y="1895400"/>
            <a:ext cx="3847800" cy="1702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1400"/>
              <a:t>This hyperparameter tuning works, but is relatively simple. We could modify main.py with a different hyperparameter tuning function to improve performance. This would make it easier to evaluate each approach we try, and decrease the amount of training time needed to find good hyperparameters. </a:t>
            </a:r>
            <a:endParaRPr sz="1400"/>
          </a:p>
        </p:txBody>
      </p:sp>
      <p:sp>
        <p:nvSpPr>
          <p:cNvPr id="625" name="Google Shape;625;p65"/>
          <p:cNvSpPr txBox="1"/>
          <p:nvPr>
            <p:ph idx="3" type="subTitle"/>
          </p:nvPr>
        </p:nvSpPr>
        <p:spPr>
          <a:xfrm>
            <a:off x="473349" y="1430476"/>
            <a:ext cx="2825700" cy="2616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700">
                <a:latin typeface="Playfair Display"/>
                <a:ea typeface="Playfair Display"/>
                <a:cs typeface="Playfair Display"/>
                <a:sym typeface="Playfair Display"/>
              </a:rPr>
              <a:t>Attention Pooling Method</a:t>
            </a:r>
            <a:endParaRPr b="1" sz="1700">
              <a:latin typeface="Playfair Display"/>
              <a:ea typeface="Playfair Display"/>
              <a:cs typeface="Playfair Display"/>
              <a:sym typeface="Playfair Display"/>
            </a:endParaRPr>
          </a:p>
        </p:txBody>
      </p:sp>
      <p:sp>
        <p:nvSpPr>
          <p:cNvPr id="626" name="Google Shape;626;p65"/>
          <p:cNvSpPr txBox="1"/>
          <p:nvPr>
            <p:ph idx="3" type="subTitle"/>
          </p:nvPr>
        </p:nvSpPr>
        <p:spPr>
          <a:xfrm>
            <a:off x="4618950" y="1430476"/>
            <a:ext cx="3883800" cy="2616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 sz="1700">
                <a:latin typeface="Playfair Display"/>
                <a:ea typeface="Playfair Display"/>
                <a:cs typeface="Playfair Display"/>
                <a:sym typeface="Playfair Display"/>
              </a:rPr>
              <a:t>Scikit Learn Hyperparameter Tuning</a:t>
            </a:r>
            <a:endParaRPr b="1" sz="1700">
              <a:latin typeface="Playfair Display"/>
              <a:ea typeface="Playfair Display"/>
              <a:cs typeface="Playfair Display"/>
              <a:sym typeface="Playfair Displ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pic>
        <p:nvPicPr>
          <p:cNvPr id="631" name="Google Shape;631;p66" title="confusion_matrix.png"/>
          <p:cNvPicPr preferRelativeResize="0"/>
          <p:nvPr/>
        </p:nvPicPr>
        <p:blipFill>
          <a:blip r:embed="rId3">
            <a:alphaModFix/>
          </a:blip>
          <a:stretch>
            <a:fillRect/>
          </a:stretch>
        </p:blipFill>
        <p:spPr>
          <a:xfrm>
            <a:off x="479275" y="1135600"/>
            <a:ext cx="4547875" cy="3875877"/>
          </a:xfrm>
          <a:prstGeom prst="rect">
            <a:avLst/>
          </a:prstGeom>
          <a:noFill/>
          <a:ln>
            <a:noFill/>
          </a:ln>
        </p:spPr>
      </p:pic>
      <p:sp>
        <p:nvSpPr>
          <p:cNvPr id="632" name="Google Shape;632;p66"/>
          <p:cNvSpPr txBox="1"/>
          <p:nvPr>
            <p:ph type="title"/>
          </p:nvPr>
        </p:nvSpPr>
        <p:spPr>
          <a:xfrm>
            <a:off x="276075" y="457200"/>
            <a:ext cx="6885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Model Classification Performance </a:t>
            </a:r>
            <a:endParaRPr/>
          </a:p>
        </p:txBody>
      </p:sp>
      <p:sp>
        <p:nvSpPr>
          <p:cNvPr id="633" name="Google Shape;633;p66"/>
          <p:cNvSpPr txBox="1"/>
          <p:nvPr>
            <p:ph idx="1" type="subTitle"/>
          </p:nvPr>
        </p:nvSpPr>
        <p:spPr>
          <a:xfrm>
            <a:off x="5101950" y="2025450"/>
            <a:ext cx="5623500" cy="261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latin typeface="Playfair Display"/>
                <a:ea typeface="Playfair Display"/>
                <a:cs typeface="Playfair Display"/>
                <a:sym typeface="Playfair Display"/>
              </a:rPr>
              <a:t>Most high-grade </a:t>
            </a:r>
            <a:r>
              <a:rPr b="1" lang="en">
                <a:latin typeface="Playfair Display"/>
                <a:ea typeface="Playfair Display"/>
                <a:cs typeface="Playfair Display"/>
                <a:sym typeface="Playfair Display"/>
              </a:rPr>
              <a:t>cases are correctly identified</a:t>
            </a:r>
            <a:endParaRPr b="1">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t/>
            </a:r>
            <a:endParaRPr b="1" sz="1700">
              <a:latin typeface="Playfair Display"/>
              <a:ea typeface="Playfair Display"/>
              <a:cs typeface="Playfair Display"/>
              <a:sym typeface="Playfair Display"/>
            </a:endParaRPr>
          </a:p>
        </p:txBody>
      </p:sp>
      <p:sp>
        <p:nvSpPr>
          <p:cNvPr id="634" name="Google Shape;634;p66"/>
          <p:cNvSpPr txBox="1"/>
          <p:nvPr>
            <p:ph idx="5" type="body"/>
          </p:nvPr>
        </p:nvSpPr>
        <p:spPr>
          <a:xfrm>
            <a:off x="5150795" y="2288863"/>
            <a:ext cx="3847800" cy="184800"/>
          </a:xfrm>
          <a:prstGeom prst="rect">
            <a:avLst/>
          </a:prstGeom>
        </p:spPr>
        <p:txBody>
          <a:bodyPr anchorCtr="0" anchor="t" bIns="0" lIns="0" spcFirstLastPara="1" rIns="0" wrap="square" tIns="0">
            <a:spAutoFit/>
          </a:bodyPr>
          <a:lstStyle/>
          <a:p>
            <a:pPr indent="0" lvl="0" marL="0" rtl="0" algn="l">
              <a:spcBef>
                <a:spcPts val="0"/>
              </a:spcBef>
              <a:spcAft>
                <a:spcPts val="800"/>
              </a:spcAft>
              <a:buNone/>
            </a:pPr>
            <a:r>
              <a:rPr lang="en" sz="1200"/>
              <a:t>11/12 high-grade cases were predicted correctly </a:t>
            </a:r>
            <a:endParaRPr sz="1200"/>
          </a:p>
        </p:txBody>
      </p:sp>
      <p:sp>
        <p:nvSpPr>
          <p:cNvPr id="635" name="Google Shape;635;p66"/>
          <p:cNvSpPr txBox="1"/>
          <p:nvPr>
            <p:ph idx="1" type="subTitle"/>
          </p:nvPr>
        </p:nvSpPr>
        <p:spPr>
          <a:xfrm>
            <a:off x="5101950" y="2839738"/>
            <a:ext cx="5623500" cy="261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latin typeface="Playfair Display"/>
                <a:ea typeface="Playfair Display"/>
                <a:cs typeface="Playfair Display"/>
                <a:sym typeface="Playfair Display"/>
              </a:rPr>
              <a:t>Some benign cases are flagged for further review </a:t>
            </a:r>
            <a:endParaRPr b="1">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t/>
            </a:r>
            <a:endParaRPr b="1" sz="1700">
              <a:latin typeface="Playfair Display"/>
              <a:ea typeface="Playfair Display"/>
              <a:cs typeface="Playfair Display"/>
              <a:sym typeface="Playfair Display"/>
            </a:endParaRPr>
          </a:p>
        </p:txBody>
      </p:sp>
      <p:sp>
        <p:nvSpPr>
          <p:cNvPr id="636" name="Google Shape;636;p66"/>
          <p:cNvSpPr txBox="1"/>
          <p:nvPr>
            <p:ph idx="1" type="subTitle"/>
          </p:nvPr>
        </p:nvSpPr>
        <p:spPr>
          <a:xfrm>
            <a:off x="5101950" y="3467413"/>
            <a:ext cx="5623500" cy="2616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a:latin typeface="Playfair Display"/>
                <a:ea typeface="Playfair Display"/>
                <a:cs typeface="Playfair Display"/>
                <a:sym typeface="Playfair Display"/>
              </a:rPr>
              <a:t>Model prioritizes catching serious disease </a:t>
            </a:r>
            <a:endParaRPr b="1">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t/>
            </a:r>
            <a:endParaRPr b="1" sz="1700">
              <a:latin typeface="Playfair Display"/>
              <a:ea typeface="Playfair Display"/>
              <a:cs typeface="Playfair Display"/>
              <a:sym typeface="Playfair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7"/>
          <p:cNvSpPr txBox="1"/>
          <p:nvPr>
            <p:ph type="title"/>
          </p:nvPr>
        </p:nvSpPr>
        <p:spPr>
          <a:xfrm>
            <a:off x="276075" y="457200"/>
            <a:ext cx="6885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Model Confidence and Class Separation </a:t>
            </a:r>
            <a:endParaRPr/>
          </a:p>
        </p:txBody>
      </p:sp>
      <p:sp>
        <p:nvSpPr>
          <p:cNvPr id="642" name="Google Shape;642;p67"/>
          <p:cNvSpPr txBox="1"/>
          <p:nvPr>
            <p:ph idx="1" type="subTitle"/>
          </p:nvPr>
        </p:nvSpPr>
        <p:spPr>
          <a:xfrm>
            <a:off x="3159275" y="1764600"/>
            <a:ext cx="2578200" cy="2616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b="1" lang="en">
                <a:latin typeface="Playfair Display"/>
                <a:ea typeface="Playfair Display"/>
                <a:cs typeface="Playfair Display"/>
                <a:sym typeface="Playfair Display"/>
              </a:rPr>
              <a:t>Most high-grade cases receive high predicted scores </a:t>
            </a:r>
            <a:endParaRPr b="1">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t/>
            </a:r>
            <a:endParaRPr b="1" sz="1700">
              <a:latin typeface="Playfair Display"/>
              <a:ea typeface="Playfair Display"/>
              <a:cs typeface="Playfair Display"/>
              <a:sym typeface="Playfair Display"/>
            </a:endParaRPr>
          </a:p>
        </p:txBody>
      </p:sp>
      <p:sp>
        <p:nvSpPr>
          <p:cNvPr id="643" name="Google Shape;643;p67"/>
          <p:cNvSpPr txBox="1"/>
          <p:nvPr>
            <p:ph idx="1" type="subTitle"/>
          </p:nvPr>
        </p:nvSpPr>
        <p:spPr>
          <a:xfrm>
            <a:off x="3158250" y="2759263"/>
            <a:ext cx="2733600" cy="2616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b="1" lang="en">
                <a:latin typeface="Playfair Display"/>
                <a:ea typeface="Playfair Display"/>
                <a:cs typeface="Playfair Display"/>
                <a:sym typeface="Playfair Display"/>
              </a:rPr>
              <a:t>Errors happen near the decision boundary </a:t>
            </a:r>
            <a:endParaRPr b="1">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t/>
            </a:r>
            <a:endParaRPr b="1" sz="1700">
              <a:latin typeface="Playfair Display"/>
              <a:ea typeface="Playfair Display"/>
              <a:cs typeface="Playfair Display"/>
              <a:sym typeface="Playfair Display"/>
            </a:endParaRPr>
          </a:p>
        </p:txBody>
      </p:sp>
      <p:sp>
        <p:nvSpPr>
          <p:cNvPr id="644" name="Google Shape;644;p67"/>
          <p:cNvSpPr txBox="1"/>
          <p:nvPr>
            <p:ph idx="1" type="subTitle"/>
          </p:nvPr>
        </p:nvSpPr>
        <p:spPr>
          <a:xfrm>
            <a:off x="3161100" y="3753950"/>
            <a:ext cx="2821800" cy="261600"/>
          </a:xfrm>
          <a:prstGeom prst="rect">
            <a:avLst/>
          </a:prstGeom>
        </p:spPr>
        <p:txBody>
          <a:bodyPr anchorCtr="0" anchor="t" bIns="0" lIns="0" spcFirstLastPara="1" rIns="0" wrap="square" tIns="0">
            <a:noAutofit/>
          </a:bodyPr>
          <a:lstStyle/>
          <a:p>
            <a:pPr indent="0" lvl="0" marL="0" rtl="0" algn="ctr">
              <a:lnSpc>
                <a:spcPct val="115000"/>
              </a:lnSpc>
              <a:spcBef>
                <a:spcPts val="0"/>
              </a:spcBef>
              <a:spcAft>
                <a:spcPts val="0"/>
              </a:spcAft>
              <a:buNone/>
            </a:pPr>
            <a:r>
              <a:rPr b="1" lang="en">
                <a:latin typeface="Playfair Display"/>
                <a:ea typeface="Playfair Display"/>
                <a:cs typeface="Playfair Display"/>
                <a:sym typeface="Playfair Display"/>
              </a:rPr>
              <a:t>Model consistently ranks high-grade cases above benign ones </a:t>
            </a:r>
            <a:endParaRPr b="1">
              <a:latin typeface="Playfair Display"/>
              <a:ea typeface="Playfair Display"/>
              <a:cs typeface="Playfair Display"/>
              <a:sym typeface="Playfair Display"/>
            </a:endParaRPr>
          </a:p>
          <a:p>
            <a:pPr indent="0" lvl="0" marL="0" rtl="0" algn="l">
              <a:lnSpc>
                <a:spcPct val="115000"/>
              </a:lnSpc>
              <a:spcBef>
                <a:spcPts val="0"/>
              </a:spcBef>
              <a:spcAft>
                <a:spcPts val="0"/>
              </a:spcAft>
              <a:buNone/>
            </a:pPr>
            <a:r>
              <a:t/>
            </a:r>
            <a:endParaRPr b="1" sz="1700">
              <a:latin typeface="Playfair Display"/>
              <a:ea typeface="Playfair Display"/>
              <a:cs typeface="Playfair Display"/>
              <a:sym typeface="Playfair Display"/>
            </a:endParaRPr>
          </a:p>
        </p:txBody>
      </p:sp>
      <p:pic>
        <p:nvPicPr>
          <p:cNvPr id="645" name="Google Shape;645;p67" title="Screen Shot 2026-02-01 at 8.34.47 PM.png"/>
          <p:cNvPicPr preferRelativeResize="0"/>
          <p:nvPr/>
        </p:nvPicPr>
        <p:blipFill>
          <a:blip r:embed="rId3">
            <a:alphaModFix/>
          </a:blip>
          <a:stretch>
            <a:fillRect/>
          </a:stretch>
        </p:blipFill>
        <p:spPr>
          <a:xfrm>
            <a:off x="5989350" y="1182462"/>
            <a:ext cx="3130099" cy="3040674"/>
          </a:xfrm>
          <a:prstGeom prst="rect">
            <a:avLst/>
          </a:prstGeom>
          <a:noFill/>
          <a:ln>
            <a:noFill/>
          </a:ln>
        </p:spPr>
      </p:pic>
      <p:pic>
        <p:nvPicPr>
          <p:cNvPr id="646" name="Google Shape;646;p67" title="Screen Shot 2026-02-01 at 8.35.34 PM.png"/>
          <p:cNvPicPr preferRelativeResize="0"/>
          <p:nvPr/>
        </p:nvPicPr>
        <p:blipFill>
          <a:blip r:embed="rId4">
            <a:alphaModFix/>
          </a:blip>
          <a:stretch>
            <a:fillRect/>
          </a:stretch>
        </p:blipFill>
        <p:spPr>
          <a:xfrm>
            <a:off x="329300" y="1106050"/>
            <a:ext cx="2578110" cy="36523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8"/>
          <p:cNvSpPr/>
          <p:nvPr/>
        </p:nvSpPr>
        <p:spPr>
          <a:xfrm>
            <a:off x="0" y="457200"/>
            <a:ext cx="652500" cy="387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652" name="Google Shape;652;p68"/>
          <p:cNvSpPr txBox="1"/>
          <p:nvPr>
            <p:ph idx="4" type="subTitle"/>
          </p:nvPr>
        </p:nvSpPr>
        <p:spPr>
          <a:xfrm>
            <a:off x="652500" y="1663350"/>
            <a:ext cx="1513500" cy="14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01</a:t>
            </a:r>
            <a:endParaRPr sz="1300"/>
          </a:p>
        </p:txBody>
      </p:sp>
      <p:sp>
        <p:nvSpPr>
          <p:cNvPr id="653" name="Google Shape;653;p68"/>
          <p:cNvSpPr txBox="1"/>
          <p:nvPr>
            <p:ph type="title"/>
          </p:nvPr>
        </p:nvSpPr>
        <p:spPr>
          <a:xfrm>
            <a:off x="837250" y="457200"/>
            <a:ext cx="6885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Moving forward</a:t>
            </a:r>
            <a:endParaRPr/>
          </a:p>
        </p:txBody>
      </p:sp>
      <p:sp>
        <p:nvSpPr>
          <p:cNvPr id="654" name="Google Shape;654;p68"/>
          <p:cNvSpPr txBox="1"/>
          <p:nvPr>
            <p:ph idx="2" type="subTitle"/>
          </p:nvPr>
        </p:nvSpPr>
        <p:spPr>
          <a:xfrm>
            <a:off x="652500" y="1219400"/>
            <a:ext cx="4164900" cy="226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700"/>
              <a:t>Ideas</a:t>
            </a:r>
            <a:endParaRPr sz="1700"/>
          </a:p>
        </p:txBody>
      </p:sp>
      <p:sp>
        <p:nvSpPr>
          <p:cNvPr id="655" name="Google Shape;655;p68"/>
          <p:cNvSpPr txBox="1"/>
          <p:nvPr>
            <p:ph idx="3" type="body"/>
          </p:nvPr>
        </p:nvSpPr>
        <p:spPr>
          <a:xfrm>
            <a:off x="652500" y="1892825"/>
            <a:ext cx="2552400" cy="168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300"/>
              <a:t>Matching slices</a:t>
            </a:r>
            <a:endParaRPr b="1" sz="1300"/>
          </a:p>
          <a:p>
            <a:pPr indent="-196850" lvl="0" marL="228600" rtl="0" algn="l">
              <a:spcBef>
                <a:spcPts val="800"/>
              </a:spcBef>
              <a:spcAft>
                <a:spcPts val="0"/>
              </a:spcAft>
              <a:buSzPts val="1300"/>
              <a:buChar char="-"/>
            </a:pPr>
            <a:r>
              <a:rPr lang="en" sz="1300"/>
              <a:t>May reduce cases available if there are not matches</a:t>
            </a:r>
            <a:endParaRPr sz="1300"/>
          </a:p>
          <a:p>
            <a:pPr indent="-196850" lvl="0" marL="228600" rtl="0" algn="l">
              <a:spcBef>
                <a:spcPts val="0"/>
              </a:spcBef>
              <a:spcAft>
                <a:spcPts val="0"/>
              </a:spcAft>
              <a:buSzPts val="1300"/>
              <a:buChar char="-"/>
            </a:pPr>
            <a:r>
              <a:rPr lang="en" sz="1300"/>
              <a:t>Model can cross reference stains, possibly improving accuracy</a:t>
            </a:r>
            <a:endParaRPr sz="1300"/>
          </a:p>
        </p:txBody>
      </p:sp>
      <p:sp>
        <p:nvSpPr>
          <p:cNvPr id="656" name="Google Shape;656;p68"/>
          <p:cNvSpPr txBox="1"/>
          <p:nvPr>
            <p:ph idx="5" type="body"/>
          </p:nvPr>
        </p:nvSpPr>
        <p:spPr>
          <a:xfrm>
            <a:off x="3507750" y="1892825"/>
            <a:ext cx="2552400" cy="1680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1300"/>
              <a:t>Regularization</a:t>
            </a:r>
            <a:endParaRPr b="1" sz="1300"/>
          </a:p>
          <a:p>
            <a:pPr indent="-196850" lvl="0" marL="228600" marR="0" rtl="0" algn="l">
              <a:lnSpc>
                <a:spcPct val="115000"/>
              </a:lnSpc>
              <a:spcBef>
                <a:spcPts val="800"/>
              </a:spcBef>
              <a:spcAft>
                <a:spcPts val="0"/>
              </a:spcAft>
              <a:buSzPts val="1300"/>
              <a:buChar char="-"/>
            </a:pPr>
            <a:r>
              <a:rPr lang="en" sz="1300"/>
              <a:t>Identify ways to directly affect attention distribution in order to prevent the distribution from being sparse </a:t>
            </a:r>
            <a:endParaRPr sz="1300"/>
          </a:p>
          <a:p>
            <a:pPr indent="0" lvl="0" marL="0" rtl="0" algn="l">
              <a:spcBef>
                <a:spcPts val="800"/>
              </a:spcBef>
              <a:spcAft>
                <a:spcPts val="800"/>
              </a:spcAft>
              <a:buNone/>
            </a:pPr>
            <a:r>
              <a:t/>
            </a:r>
            <a:endParaRPr sz="1300"/>
          </a:p>
        </p:txBody>
      </p:sp>
      <p:sp>
        <p:nvSpPr>
          <p:cNvPr id="657" name="Google Shape;657;p68"/>
          <p:cNvSpPr txBox="1"/>
          <p:nvPr>
            <p:ph idx="6" type="subTitle"/>
          </p:nvPr>
        </p:nvSpPr>
        <p:spPr>
          <a:xfrm>
            <a:off x="3507738" y="1663350"/>
            <a:ext cx="1513500" cy="14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02</a:t>
            </a:r>
            <a:endParaRPr sz="1300"/>
          </a:p>
        </p:txBody>
      </p:sp>
      <p:sp>
        <p:nvSpPr>
          <p:cNvPr id="658" name="Google Shape;658;p68"/>
          <p:cNvSpPr txBox="1"/>
          <p:nvPr>
            <p:ph idx="7" type="body"/>
          </p:nvPr>
        </p:nvSpPr>
        <p:spPr>
          <a:xfrm>
            <a:off x="6363000" y="1892825"/>
            <a:ext cx="2552400" cy="1680600"/>
          </a:xfrm>
          <a:prstGeom prst="rect">
            <a:avLst/>
          </a:prstGeom>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 sz="1300"/>
              <a:t>Patch Selection</a:t>
            </a:r>
            <a:endParaRPr b="1" sz="1300"/>
          </a:p>
          <a:p>
            <a:pPr indent="-196850" lvl="0" marL="228600" marR="0" rtl="0" algn="l">
              <a:lnSpc>
                <a:spcPct val="115000"/>
              </a:lnSpc>
              <a:spcBef>
                <a:spcPts val="800"/>
              </a:spcBef>
              <a:spcAft>
                <a:spcPts val="0"/>
              </a:spcAft>
              <a:buSzPts val="1300"/>
              <a:buChar char="-"/>
            </a:pPr>
            <a:r>
              <a:rPr lang="en" sz="1300"/>
              <a:t>Currently if there are &gt;500 patches in a case, 500 are randomly selected</a:t>
            </a:r>
            <a:endParaRPr sz="1300"/>
          </a:p>
          <a:p>
            <a:pPr indent="-196850" lvl="0" marL="228600" marR="0" rtl="0" algn="l">
              <a:lnSpc>
                <a:spcPct val="115000"/>
              </a:lnSpc>
              <a:spcBef>
                <a:spcPts val="0"/>
              </a:spcBef>
              <a:spcAft>
                <a:spcPts val="0"/>
              </a:spcAft>
              <a:buSzPts val="1300"/>
              <a:buChar char="-"/>
            </a:pPr>
            <a:r>
              <a:rPr lang="en" sz="1300"/>
              <a:t>Develop a methodology for strategic selection</a:t>
            </a:r>
            <a:endParaRPr sz="1300"/>
          </a:p>
          <a:p>
            <a:pPr indent="0" lvl="0" marL="0" marR="0" rtl="0" algn="l">
              <a:lnSpc>
                <a:spcPct val="115000"/>
              </a:lnSpc>
              <a:spcBef>
                <a:spcPts val="800"/>
              </a:spcBef>
              <a:spcAft>
                <a:spcPts val="800"/>
              </a:spcAft>
              <a:buNone/>
            </a:pPr>
            <a:r>
              <a:t/>
            </a:r>
            <a:endParaRPr sz="1300"/>
          </a:p>
        </p:txBody>
      </p:sp>
      <p:sp>
        <p:nvSpPr>
          <p:cNvPr id="659" name="Google Shape;659;p68"/>
          <p:cNvSpPr txBox="1"/>
          <p:nvPr>
            <p:ph idx="8" type="subTitle"/>
          </p:nvPr>
        </p:nvSpPr>
        <p:spPr>
          <a:xfrm>
            <a:off x="6363000" y="1663350"/>
            <a:ext cx="1513500" cy="14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300"/>
              <a:t>03</a:t>
            </a:r>
            <a:endParaRPr sz="1300"/>
          </a:p>
        </p:txBody>
      </p:sp>
      <p:sp>
        <p:nvSpPr>
          <p:cNvPr id="660" name="Google Shape;660;p68"/>
          <p:cNvSpPr txBox="1"/>
          <p:nvPr>
            <p:ph idx="9" type="subTitle"/>
          </p:nvPr>
        </p:nvSpPr>
        <p:spPr>
          <a:xfrm>
            <a:off x="276075" y="520738"/>
            <a:ext cx="336000" cy="226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01</a:t>
            </a:r>
            <a:endParaRPr/>
          </a:p>
        </p:txBody>
      </p:sp>
      <p:pic>
        <p:nvPicPr>
          <p:cNvPr descr="An architectural detail of a modern glass building." id="661" name="Google Shape;661;p68"/>
          <p:cNvPicPr preferRelativeResize="0"/>
          <p:nvPr/>
        </p:nvPicPr>
        <p:blipFill rotWithShape="1">
          <a:blip r:embed="rId3">
            <a:alphaModFix/>
          </a:blip>
          <a:srcRect b="11872" l="0" r="0" t="11872"/>
          <a:stretch/>
        </p:blipFill>
        <p:spPr>
          <a:xfrm>
            <a:off x="0" y="3991450"/>
            <a:ext cx="2266147" cy="11520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Kickoff Presentation">
  <a:themeElements>
    <a:clrScheme name="Simple Light">
      <a:dk1>
        <a:srgbClr val="FBFBFB"/>
      </a:dk1>
      <a:lt1>
        <a:srgbClr val="1C2026"/>
      </a:lt1>
      <a:dk2>
        <a:srgbClr val="F5F5F5"/>
      </a:dk2>
      <a:lt2>
        <a:srgbClr val="1C2026"/>
      </a:lt2>
      <a:accent1>
        <a:srgbClr val="E9E9E9"/>
      </a:accent1>
      <a:accent2>
        <a:srgbClr val="7A7A7A"/>
      </a:accent2>
      <a:accent3>
        <a:srgbClr val="C2C2C2"/>
      </a:accent3>
      <a:accent4>
        <a:srgbClr val="434343"/>
      </a:accent4>
      <a:accent5>
        <a:srgbClr val="666666"/>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